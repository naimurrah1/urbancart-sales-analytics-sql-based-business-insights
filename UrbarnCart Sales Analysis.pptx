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2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1741F"/>
    <a:srgbClr val="C2E49C"/>
    <a:srgbClr val="EEF7B7"/>
    <a:srgbClr val="F5F093"/>
    <a:srgbClr val="E7F496"/>
    <a:srgbClr val="079F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G:\Data%20360%20all%20file\postgres%20sql\assignment%201\monthly_trend.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G:\Data%20360%20all%20file\postgres%20sql\assignment%201\prouct_wise_rev.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G:\Data%20360%20all%20file\postgres%20sql\assignment%201\product%20wise%20rev.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G:\Data%20360%20all%20file\postgres%20sql\assignment%201\product%20stock%20out%20data.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G:\Data%20360%20all%20file\postgres%20sql\assignment%201\male%20and%20female%20cat%20.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G:\Data%20360%20all%20file\postgres%20sql\assignment%201\most%20frequent%20payment%20%20method.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G:\Data%20360%20all%20file\postgres%20sql\assignment%201\relation%20between%20payment%20method%20%20and%20order%20status.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G:\Data%20360%20all%20file\postgres%20sql\assignment%201\average%20number%20of%20iems%20by%20method.csv"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0555555555555555E-2"/>
          <c:y val="0.17071813939924177"/>
          <c:w val="0.93888888888888888"/>
          <c:h val="0.73614173228346458"/>
        </c:manualLayout>
      </c:layout>
      <c:bar3DChart>
        <c:barDir val="col"/>
        <c:grouping val="stacked"/>
        <c:varyColors val="0"/>
        <c:ser>
          <c:idx val="0"/>
          <c:order val="0"/>
          <c:spPr>
            <a:solidFill>
              <a:srgbClr val="0070C0"/>
            </a:solidFill>
            <a:ln>
              <a:noFill/>
            </a:ln>
            <a:effectLst/>
            <a:sp3d/>
          </c:spPr>
          <c:invertIfNegative val="0"/>
          <c:dLbls>
            <c:dLbl>
              <c:idx val="0"/>
              <c:layout>
                <c:manualLayout>
                  <c:x val="3.1944553805774274E-2"/>
                  <c:y val="-0.28240740740740744"/>
                </c:manualLayout>
              </c:layout>
              <c:spPr>
                <a:solidFill>
                  <a:schemeClr val="accent1">
                    <a:lumMod val="60000"/>
                    <a:lumOff val="40000"/>
                  </a:schemeClr>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21325"/>
                        <a:gd name="adj2" fmla="val 139281"/>
                      </a:avLst>
                    </a:prstGeom>
                    <a:noFill/>
                    <a:ln>
                      <a:noFill/>
                    </a:ln>
                  </c15:spPr>
                  <c15:layout>
                    <c:manualLayout>
                      <c:w val="0.10730511811023621"/>
                      <c:h val="5.5557742782152218E-2"/>
                    </c:manualLayout>
                  </c15:layout>
                </c:ext>
                <c:ext xmlns:c16="http://schemas.microsoft.com/office/drawing/2014/chart" uri="{C3380CC4-5D6E-409C-BE32-E72D297353CC}">
                  <c16:uniqueId val="{00000000-EDF0-4704-9CAE-9F593D506BEB}"/>
                </c:ext>
              </c:extLst>
            </c:dLbl>
            <c:dLbl>
              <c:idx val="1"/>
              <c:layout>
                <c:manualLayout>
                  <c:x val="2.6388888888888837E-2"/>
                  <c:y val="-0.40972222222222221"/>
                </c:manualLayout>
              </c:layout>
              <c:spPr>
                <a:xfrm>
                  <a:off x="1580995" y="370843"/>
                  <a:ext cx="592199" cy="215906"/>
                </a:xfrm>
                <a:solidFill>
                  <a:srgbClr val="156082">
                    <a:lumMod val="60000"/>
                    <a:lumOff val="40000"/>
                  </a:srgbClr>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1832"/>
                        <a:gd name="adj2" fmla="val 134409"/>
                      </a:avLst>
                    </a:prstGeom>
                    <a:noFill/>
                    <a:ln>
                      <a:noFill/>
                    </a:ln>
                  </c15:spPr>
                  <c15:layout>
                    <c:manualLayout>
                      <c:w val="0.12952734033245844"/>
                      <c:h val="7.8705890930300379E-2"/>
                    </c:manualLayout>
                  </c15:layout>
                </c:ext>
                <c:ext xmlns:c16="http://schemas.microsoft.com/office/drawing/2014/chart" uri="{C3380CC4-5D6E-409C-BE32-E72D297353CC}">
                  <c16:uniqueId val="{00000001-EDF0-4704-9CAE-9F593D506BEB}"/>
                </c:ext>
              </c:extLst>
            </c:dLbl>
            <c:dLbl>
              <c:idx val="2"/>
              <c:layout>
                <c:manualLayout>
                  <c:x val="2.9166776027996499E-2"/>
                  <c:y val="-0.37962962962962965"/>
                </c:manualLayout>
              </c:layout>
              <c:spPr>
                <a:solidFill>
                  <a:schemeClr val="accent1">
                    <a:lumMod val="60000"/>
                    <a:lumOff val="40000"/>
                  </a:schemeClr>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6042"/>
                        <a:gd name="adj2" fmla="val 228564"/>
                      </a:avLst>
                    </a:prstGeom>
                    <a:noFill/>
                    <a:ln>
                      <a:noFill/>
                    </a:ln>
                  </c15:spPr>
                  <c15:layout>
                    <c:manualLayout>
                      <c:w val="0.10730511811023621"/>
                      <c:h val="8.3335520559930015E-2"/>
                    </c:manualLayout>
                  </c15:layout>
                </c:ext>
                <c:ext xmlns:c16="http://schemas.microsoft.com/office/drawing/2014/chart" uri="{C3380CC4-5D6E-409C-BE32-E72D297353CC}">
                  <c16:uniqueId val="{00000002-EDF0-4704-9CAE-9F593D506BEB}"/>
                </c:ext>
              </c:extLst>
            </c:dLbl>
            <c:dLbl>
              <c:idx val="3"/>
              <c:layout>
                <c:manualLayout>
                  <c:x val="3.7500109361329831E-2"/>
                  <c:y val="-0.21064814814814825"/>
                </c:manualLayout>
              </c:layout>
              <c:spPr>
                <a:solidFill>
                  <a:schemeClr val="accent1">
                    <a:lumMod val="60000"/>
                    <a:lumOff val="40000"/>
                  </a:schemeClr>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17504"/>
                        <a:gd name="adj2" fmla="val 192851"/>
                      </a:avLst>
                    </a:prstGeom>
                    <a:noFill/>
                    <a:ln>
                      <a:noFill/>
                    </a:ln>
                  </c15:spPr>
                  <c15:layout>
                    <c:manualLayout>
                      <c:w val="0.10174956255468066"/>
                      <c:h val="6.0187372411781861E-2"/>
                    </c:manualLayout>
                  </c15:layout>
                </c:ext>
                <c:ext xmlns:c16="http://schemas.microsoft.com/office/drawing/2014/chart" uri="{C3380CC4-5D6E-409C-BE32-E72D297353CC}">
                  <c16:uniqueId val="{00000003-EDF0-4704-9CAE-9F593D506BEB}"/>
                </c:ext>
              </c:extLst>
            </c:dLbl>
            <c:spPr>
              <a:solidFill>
                <a:schemeClr val="accent1">
                  <a:lumMod val="60000"/>
                  <a:lumOff val="40000"/>
                </a:schemeClr>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Table1!$A$2:$A$5</c:f>
              <c:strCache>
                <c:ptCount val="4"/>
                <c:pt idx="0">
                  <c:v>September</c:v>
                </c:pt>
                <c:pt idx="1">
                  <c:v>October  </c:v>
                </c:pt>
                <c:pt idx="2">
                  <c:v>November </c:v>
                </c:pt>
                <c:pt idx="3">
                  <c:v>December </c:v>
                </c:pt>
              </c:strCache>
            </c:strRef>
          </c:cat>
          <c:val>
            <c:numRef>
              <c:f>Table1!$B$2:$B$5</c:f>
              <c:numCache>
                <c:formatCode>General</c:formatCode>
                <c:ptCount val="4"/>
                <c:pt idx="0">
                  <c:v>243</c:v>
                </c:pt>
                <c:pt idx="1">
                  <c:v>413</c:v>
                </c:pt>
                <c:pt idx="2">
                  <c:v>371</c:v>
                </c:pt>
                <c:pt idx="3">
                  <c:v>173</c:v>
                </c:pt>
              </c:numCache>
            </c:numRef>
          </c:val>
          <c:extLst>
            <c:ext xmlns:c16="http://schemas.microsoft.com/office/drawing/2014/chart" uri="{C3380CC4-5D6E-409C-BE32-E72D297353CC}">
              <c16:uniqueId val="{00000004-EDF0-4704-9CAE-9F593D506BEB}"/>
            </c:ext>
          </c:extLst>
        </c:ser>
        <c:dLbls>
          <c:showLegendKey val="0"/>
          <c:showVal val="1"/>
          <c:showCatName val="0"/>
          <c:showSerName val="0"/>
          <c:showPercent val="0"/>
          <c:showBubbleSize val="0"/>
        </c:dLbls>
        <c:gapWidth val="150"/>
        <c:shape val="box"/>
        <c:axId val="3974224"/>
        <c:axId val="3975184"/>
        <c:axId val="0"/>
      </c:bar3DChart>
      <c:catAx>
        <c:axId val="39742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75184"/>
        <c:crosses val="autoZero"/>
        <c:auto val="1"/>
        <c:lblAlgn val="ctr"/>
        <c:lblOffset val="100"/>
        <c:noMultiLvlLbl val="0"/>
      </c:catAx>
      <c:valAx>
        <c:axId val="3975184"/>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397422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prouct_wise_rev!$B$1</c:f>
              <c:strCache>
                <c:ptCount val="1"/>
                <c:pt idx="0">
                  <c:v>total_revenue</c:v>
                </c:pt>
              </c:strCache>
            </c:strRef>
          </c:tx>
          <c:spPr>
            <a:solidFill>
              <a:schemeClr val="accent1"/>
            </a:solidFill>
            <a:ln>
              <a:noFill/>
            </a:ln>
            <a:effectLst/>
            <a:sp3d/>
          </c:spPr>
          <c:invertIfNegative val="0"/>
          <c:dLbls>
            <c:spPr>
              <a:solidFill>
                <a:srgbClr val="E97132">
                  <a:lumMod val="60000"/>
                  <a:lumOff val="40000"/>
                </a:srgbClr>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2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prouct_wise_rev!$A$2:$A$13</c:f>
              <c:strCache>
                <c:ptCount val="12"/>
                <c:pt idx="0">
                  <c:v>Fashion</c:v>
                </c:pt>
                <c:pt idx="1">
                  <c:v>Grocery</c:v>
                </c:pt>
                <c:pt idx="2">
                  <c:v>Electronics</c:v>
                </c:pt>
                <c:pt idx="3">
                  <c:v>Beverages</c:v>
                </c:pt>
                <c:pt idx="4">
                  <c:v>Personal Care</c:v>
                </c:pt>
                <c:pt idx="5">
                  <c:v>Health</c:v>
                </c:pt>
                <c:pt idx="6">
                  <c:v>Digital</c:v>
                </c:pt>
                <c:pt idx="7">
                  <c:v>Meat</c:v>
                </c:pt>
                <c:pt idx="8">
                  <c:v>Poultry</c:v>
                </c:pt>
                <c:pt idx="9">
                  <c:v>Snacks</c:v>
                </c:pt>
                <c:pt idx="10">
                  <c:v>Home Care</c:v>
                </c:pt>
                <c:pt idx="11">
                  <c:v>Dairy</c:v>
                </c:pt>
              </c:strCache>
            </c:strRef>
          </c:cat>
          <c:val>
            <c:numRef>
              <c:f>prouct_wise_rev!$B$2:$B$13</c:f>
              <c:numCache>
                <c:formatCode>General</c:formatCode>
                <c:ptCount val="12"/>
                <c:pt idx="0">
                  <c:v>302980</c:v>
                </c:pt>
                <c:pt idx="1">
                  <c:v>300721</c:v>
                </c:pt>
                <c:pt idx="2">
                  <c:v>223200</c:v>
                </c:pt>
                <c:pt idx="3">
                  <c:v>129400</c:v>
                </c:pt>
                <c:pt idx="4">
                  <c:v>99558</c:v>
                </c:pt>
                <c:pt idx="5">
                  <c:v>95808</c:v>
                </c:pt>
                <c:pt idx="6">
                  <c:v>65267</c:v>
                </c:pt>
                <c:pt idx="7">
                  <c:v>35880</c:v>
                </c:pt>
                <c:pt idx="8">
                  <c:v>31520</c:v>
                </c:pt>
                <c:pt idx="9">
                  <c:v>29860</c:v>
                </c:pt>
                <c:pt idx="10">
                  <c:v>26130</c:v>
                </c:pt>
                <c:pt idx="11">
                  <c:v>13590</c:v>
                </c:pt>
              </c:numCache>
            </c:numRef>
          </c:val>
          <c:extLst>
            <c:ext xmlns:c16="http://schemas.microsoft.com/office/drawing/2014/chart" uri="{C3380CC4-5D6E-409C-BE32-E72D297353CC}">
              <c16:uniqueId val="{00000000-704B-47FF-819F-D680A07FB650}"/>
            </c:ext>
          </c:extLst>
        </c:ser>
        <c:dLbls>
          <c:showLegendKey val="0"/>
          <c:showVal val="1"/>
          <c:showCatName val="0"/>
          <c:showSerName val="0"/>
          <c:showPercent val="0"/>
          <c:showBubbleSize val="0"/>
        </c:dLbls>
        <c:gapWidth val="150"/>
        <c:shape val="box"/>
        <c:axId val="565487727"/>
        <c:axId val="319014335"/>
        <c:axId val="0"/>
      </c:bar3DChart>
      <c:catAx>
        <c:axId val="5654877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19014335"/>
        <c:crosses val="autoZero"/>
        <c:auto val="1"/>
        <c:lblAlgn val="ctr"/>
        <c:lblOffset val="100"/>
        <c:noMultiLvlLbl val="0"/>
      </c:catAx>
      <c:valAx>
        <c:axId val="319014335"/>
        <c:scaling>
          <c:orientation val="minMax"/>
        </c:scaling>
        <c:delete val="1"/>
        <c:axPos val="b"/>
        <c:numFmt formatCode="General" sourceLinked="1"/>
        <c:majorTickMark val="none"/>
        <c:minorTickMark val="none"/>
        <c:tickLblPos val="nextTo"/>
        <c:crossAx val="5654877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215573996488055"/>
          <c:y val="0.2"/>
          <c:w val="0.66455142209020279"/>
          <c:h val="0.79420289855072468"/>
        </c:manualLayout>
      </c:layout>
      <c:barChart>
        <c:barDir val="bar"/>
        <c:grouping val="clustered"/>
        <c:varyColors val="0"/>
        <c:ser>
          <c:idx val="0"/>
          <c:order val="0"/>
          <c:spPr>
            <a:solidFill>
              <a:schemeClr val="accent3">
                <a:lumMod val="50000"/>
              </a:schemeClr>
            </a:solidFill>
            <a:ln>
              <a:noFill/>
            </a:ln>
            <a:effectLst/>
          </c:spPr>
          <c:invertIfNegative val="0"/>
          <c:dLbls>
            <c:spPr>
              <a:solidFill>
                <a:srgbClr val="002060"/>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2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'product wise rev'!$A$2:$A$16</c:f>
              <c:strCache>
                <c:ptCount val="15"/>
                <c:pt idx="0">
                  <c:v>Power Bank 10000mAh</c:v>
                </c:pt>
                <c:pt idx="1">
                  <c:v>Nazirshail Rice 5kg</c:v>
                </c:pt>
                <c:pt idx="2">
                  <c:v>Horlicks 500g</c:v>
                </c:pt>
                <c:pt idx="3">
                  <c:v>Wallet (Men)</c:v>
                </c:pt>
                <c:pt idx="4">
                  <c:v>Ladies Bag</c:v>
                </c:pt>
                <c:pt idx="5">
                  <c:v>Bru Coffee 200g</c:v>
                </c:pt>
                <c:pt idx="6">
                  <c:v>Miniket Rice 5kg</c:v>
                </c:pt>
                <c:pt idx="7">
                  <c:v>T-shirt (Women)</c:v>
                </c:pt>
                <c:pt idx="8">
                  <c:v>T-shirt (Men)</c:v>
                </c:pt>
                <c:pt idx="9">
                  <c:v>Clear Men Shampoo 180ml</c:v>
                </c:pt>
                <c:pt idx="10">
                  <c:v>Earphones</c:v>
                </c:pt>
                <c:pt idx="11">
                  <c:v>Broiler Chicken (whole)</c:v>
                </c:pt>
                <c:pt idx="12">
                  <c:v>Rupchanda Soyabean Oil 1L</c:v>
                </c:pt>
                <c:pt idx="13">
                  <c:v>Deshi Egg (12 pcs)</c:v>
                </c:pt>
                <c:pt idx="14">
                  <c:v>Taaza Black Tea 400g</c:v>
                </c:pt>
              </c:strCache>
            </c:strRef>
          </c:cat>
          <c:val>
            <c:numRef>
              <c:f>'product wise rev'!$B$2:$B$16</c:f>
              <c:numCache>
                <c:formatCode>General</c:formatCode>
                <c:ptCount val="15"/>
                <c:pt idx="0">
                  <c:v>186200</c:v>
                </c:pt>
                <c:pt idx="1">
                  <c:v>110240</c:v>
                </c:pt>
                <c:pt idx="2">
                  <c:v>93600</c:v>
                </c:pt>
                <c:pt idx="3">
                  <c:v>81450</c:v>
                </c:pt>
                <c:pt idx="4">
                  <c:v>73200</c:v>
                </c:pt>
                <c:pt idx="5">
                  <c:v>70290</c:v>
                </c:pt>
                <c:pt idx="6">
                  <c:v>69750</c:v>
                </c:pt>
                <c:pt idx="7">
                  <c:v>68020</c:v>
                </c:pt>
                <c:pt idx="8">
                  <c:v>61950</c:v>
                </c:pt>
                <c:pt idx="9">
                  <c:v>38380</c:v>
                </c:pt>
                <c:pt idx="10">
                  <c:v>37000</c:v>
                </c:pt>
                <c:pt idx="11">
                  <c:v>35880</c:v>
                </c:pt>
                <c:pt idx="12">
                  <c:v>31675</c:v>
                </c:pt>
                <c:pt idx="13">
                  <c:v>31520</c:v>
                </c:pt>
                <c:pt idx="14">
                  <c:v>30020</c:v>
                </c:pt>
              </c:numCache>
            </c:numRef>
          </c:val>
          <c:extLst>
            <c:ext xmlns:c16="http://schemas.microsoft.com/office/drawing/2014/chart" uri="{C3380CC4-5D6E-409C-BE32-E72D297353CC}">
              <c16:uniqueId val="{00000000-AEDE-4378-85E1-BB14BEDF60FD}"/>
            </c:ext>
          </c:extLst>
        </c:ser>
        <c:dLbls>
          <c:showLegendKey val="0"/>
          <c:showVal val="0"/>
          <c:showCatName val="0"/>
          <c:showSerName val="0"/>
          <c:showPercent val="0"/>
          <c:showBubbleSize val="0"/>
        </c:dLbls>
        <c:gapWidth val="109"/>
        <c:axId val="652740752"/>
        <c:axId val="652752272"/>
      </c:barChart>
      <c:catAx>
        <c:axId val="6527407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652752272"/>
        <c:crosses val="autoZero"/>
        <c:auto val="1"/>
        <c:lblAlgn val="ctr"/>
        <c:lblOffset val="100"/>
        <c:noMultiLvlLbl val="0"/>
      </c:catAx>
      <c:valAx>
        <c:axId val="652752272"/>
        <c:scaling>
          <c:orientation val="minMax"/>
        </c:scaling>
        <c:delete val="1"/>
        <c:axPos val="b"/>
        <c:numFmt formatCode="General" sourceLinked="1"/>
        <c:majorTickMark val="none"/>
        <c:minorTickMark val="none"/>
        <c:tickLblPos val="nextTo"/>
        <c:crossAx val="652740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3569023569023569E-2"/>
          <c:y val="5.0925925925925923E-2"/>
          <c:w val="0.96296296296296291"/>
          <c:h val="0.49141841644794398"/>
        </c:manualLayout>
      </c:layout>
      <c:bar3DChart>
        <c:barDir val="col"/>
        <c:grouping val="clustered"/>
        <c:varyColors val="0"/>
        <c:ser>
          <c:idx val="0"/>
          <c:order val="0"/>
          <c:spPr>
            <a:solidFill>
              <a:schemeClr val="accent1"/>
            </a:solidFill>
            <a:ln>
              <a:noFill/>
            </a:ln>
            <a:effectLst/>
            <a:sp3d/>
          </c:spPr>
          <c:invertIfNegative val="0"/>
          <c:dLbls>
            <c:spPr>
              <a:solidFill>
                <a:schemeClr val="accent3">
                  <a:lumMod val="40000"/>
                  <a:lumOff val="60000"/>
                </a:schemeClr>
              </a:solidFill>
              <a:ln>
                <a:noFill/>
              </a:ln>
              <a:effectLst/>
            </c:spPr>
            <c:txPr>
              <a:bodyPr rot="5400000" spcFirstLastPara="1" vertOverflow="ellipsis" wrap="square" lIns="38100" tIns="19050" rIns="38100" bIns="19050" anchor="ctr" anchorCtr="1">
                <a:spAutoFit/>
              </a:bodyPr>
              <a:lstStyle/>
              <a:p>
                <a:pPr>
                  <a:defRPr sz="14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stock out data'!$I$2:$I$42</c:f>
              <c:strCache>
                <c:ptCount val="41"/>
                <c:pt idx="0">
                  <c:v>Power Bank 10000mAh</c:v>
                </c:pt>
                <c:pt idx="1">
                  <c:v>Wallet (Men)</c:v>
                </c:pt>
                <c:pt idx="2">
                  <c:v>Horlicks 500g</c:v>
                </c:pt>
                <c:pt idx="3">
                  <c:v>Bru Coffee 200g</c:v>
                </c:pt>
                <c:pt idx="4">
                  <c:v>Ladies Bag</c:v>
                </c:pt>
                <c:pt idx="5">
                  <c:v>Shoes Polish</c:v>
                </c:pt>
                <c:pt idx="6">
                  <c:v>Broiler Chicken (whole)</c:v>
                </c:pt>
                <c:pt idx="7">
                  <c:v>Cap</c:v>
                </c:pt>
                <c:pt idx="8">
                  <c:v>Clear Men Shampoo 180ml</c:v>
                </c:pt>
                <c:pt idx="9">
                  <c:v>Deshi Egg (12 pcs)</c:v>
                </c:pt>
                <c:pt idx="10">
                  <c:v>T-shirt (Women)</c:v>
                </c:pt>
                <c:pt idx="11">
                  <c:v>Nazirshail Rice 5kg</c:v>
                </c:pt>
                <c:pt idx="12">
                  <c:v>T-shirt (Men)</c:v>
                </c:pt>
                <c:pt idx="13">
                  <c:v>Sunsilk Shampoo 180ml</c:v>
                </c:pt>
                <c:pt idx="14">
                  <c:v>Earphones</c:v>
                </c:pt>
                <c:pt idx="15">
                  <c:v>Green Chili 100g</c:v>
                </c:pt>
                <c:pt idx="16">
                  <c:v>Peanut 500g</c:v>
                </c:pt>
                <c:pt idx="17">
                  <c:v>Flour (Atta) 2kg</c:v>
                </c:pt>
                <c:pt idx="18">
                  <c:v>Farm Fresh Milk 1L</c:v>
                </c:pt>
                <c:pt idx="19">
                  <c:v>Fresh Sugar 1kg</c:v>
                </c:pt>
                <c:pt idx="20">
                  <c:v>Sprite 1L</c:v>
                </c:pt>
                <c:pt idx="21">
                  <c:v>Pepsi 1L</c:v>
                </c:pt>
                <c:pt idx="22">
                  <c:v>Lentil (Dal) 1kg</c:v>
                </c:pt>
                <c:pt idx="23">
                  <c:v>Wheel Washing Powder 1kg</c:v>
                </c:pt>
                <c:pt idx="24">
                  <c:v>Taaza Black Tea 400g</c:v>
                </c:pt>
                <c:pt idx="25">
                  <c:v>Miniket Rice 5kg</c:v>
                </c:pt>
                <c:pt idx="26">
                  <c:v>Onion 1kg</c:v>
                </c:pt>
                <c:pt idx="27">
                  <c:v>ACI Pure Salt 1kg</c:v>
                </c:pt>
                <c:pt idx="28">
                  <c:v>Bashundhara Tissue</c:v>
                </c:pt>
                <c:pt idx="29">
                  <c:v>Rupchanda Soyabean Oil 1L</c:v>
                </c:pt>
                <c:pt idx="30">
                  <c:v>Potato 1kg</c:v>
                </c:pt>
                <c:pt idx="31">
                  <c:v>Vim Dishwashing Bar</c:v>
                </c:pt>
                <c:pt idx="32">
                  <c:v>Chanachur 200g</c:v>
                </c:pt>
                <c:pt idx="33">
                  <c:v>Robi Internet Pack</c:v>
                </c:pt>
                <c:pt idx="34">
                  <c:v>GP Internet Pack</c:v>
                </c:pt>
                <c:pt idx="35">
                  <c:v>Banglalink Internet Pack</c:v>
                </c:pt>
                <c:pt idx="36">
                  <c:v>Lux Soap 100g</c:v>
                </c:pt>
                <c:pt idx="37">
                  <c:v>Lifebuoy Soap 100g</c:v>
                </c:pt>
                <c:pt idx="38">
                  <c:v>Biscuits (Mixed)</c:v>
                </c:pt>
                <c:pt idx="39">
                  <c:v>Oral Saline (ORS)</c:v>
                </c:pt>
                <c:pt idx="40">
                  <c:v>Water Bottle 1L</c:v>
                </c:pt>
              </c:strCache>
            </c:strRef>
          </c:cat>
          <c:val>
            <c:numRef>
              <c:f>'product stock out data'!$J$2:$J$42</c:f>
              <c:numCache>
                <c:formatCode>General</c:formatCode>
                <c:ptCount val="41"/>
                <c:pt idx="0">
                  <c:v>0.46</c:v>
                </c:pt>
                <c:pt idx="1">
                  <c:v>0.83</c:v>
                </c:pt>
                <c:pt idx="2">
                  <c:v>0.92</c:v>
                </c:pt>
                <c:pt idx="3">
                  <c:v>0.94</c:v>
                </c:pt>
                <c:pt idx="4">
                  <c:v>1.23</c:v>
                </c:pt>
                <c:pt idx="5">
                  <c:v>1.21</c:v>
                </c:pt>
                <c:pt idx="6">
                  <c:v>1.28</c:v>
                </c:pt>
                <c:pt idx="7">
                  <c:v>1.31</c:v>
                </c:pt>
                <c:pt idx="8">
                  <c:v>1.24</c:v>
                </c:pt>
                <c:pt idx="9">
                  <c:v>1.27</c:v>
                </c:pt>
                <c:pt idx="10">
                  <c:v>1.4</c:v>
                </c:pt>
                <c:pt idx="11">
                  <c:v>1.42</c:v>
                </c:pt>
                <c:pt idx="12">
                  <c:v>1.69</c:v>
                </c:pt>
                <c:pt idx="13">
                  <c:v>1.9</c:v>
                </c:pt>
                <c:pt idx="14">
                  <c:v>2.0299999999999998</c:v>
                </c:pt>
                <c:pt idx="15">
                  <c:v>2.11</c:v>
                </c:pt>
                <c:pt idx="16">
                  <c:v>2.08</c:v>
                </c:pt>
                <c:pt idx="17">
                  <c:v>2.14</c:v>
                </c:pt>
                <c:pt idx="18">
                  <c:v>2.65</c:v>
                </c:pt>
                <c:pt idx="19">
                  <c:v>2.5099999999999998</c:v>
                </c:pt>
                <c:pt idx="20">
                  <c:v>2.72</c:v>
                </c:pt>
                <c:pt idx="21">
                  <c:v>2.94</c:v>
                </c:pt>
                <c:pt idx="22">
                  <c:v>2.98</c:v>
                </c:pt>
                <c:pt idx="23">
                  <c:v>3.14</c:v>
                </c:pt>
                <c:pt idx="24">
                  <c:v>3.16</c:v>
                </c:pt>
                <c:pt idx="25">
                  <c:v>3.23</c:v>
                </c:pt>
                <c:pt idx="26">
                  <c:v>3.57</c:v>
                </c:pt>
                <c:pt idx="27">
                  <c:v>3.82</c:v>
                </c:pt>
                <c:pt idx="28">
                  <c:v>4.8600000000000003</c:v>
                </c:pt>
                <c:pt idx="29">
                  <c:v>4.42</c:v>
                </c:pt>
                <c:pt idx="30">
                  <c:v>4.3899999999999997</c:v>
                </c:pt>
                <c:pt idx="31">
                  <c:v>5.26</c:v>
                </c:pt>
                <c:pt idx="32">
                  <c:v>5.77</c:v>
                </c:pt>
                <c:pt idx="33">
                  <c:v>5.23</c:v>
                </c:pt>
                <c:pt idx="34">
                  <c:v>5.71</c:v>
                </c:pt>
                <c:pt idx="35">
                  <c:v>6.8</c:v>
                </c:pt>
                <c:pt idx="36">
                  <c:v>8.0299999999999994</c:v>
                </c:pt>
                <c:pt idx="37">
                  <c:v>5.08</c:v>
                </c:pt>
                <c:pt idx="38">
                  <c:v>6.94</c:v>
                </c:pt>
                <c:pt idx="39">
                  <c:v>10.87</c:v>
                </c:pt>
                <c:pt idx="40">
                  <c:v>11.56</c:v>
                </c:pt>
              </c:numCache>
            </c:numRef>
          </c:val>
          <c:extLst>
            <c:ext xmlns:c16="http://schemas.microsoft.com/office/drawing/2014/chart" uri="{C3380CC4-5D6E-409C-BE32-E72D297353CC}">
              <c16:uniqueId val="{00000000-AC7D-4D49-A5DE-3845AD62AC91}"/>
            </c:ext>
          </c:extLst>
        </c:ser>
        <c:dLbls>
          <c:showLegendKey val="0"/>
          <c:showVal val="1"/>
          <c:showCatName val="0"/>
          <c:showSerName val="0"/>
          <c:showPercent val="0"/>
          <c:showBubbleSize val="0"/>
        </c:dLbls>
        <c:gapWidth val="150"/>
        <c:shape val="box"/>
        <c:axId val="1118695344"/>
        <c:axId val="1118702544"/>
        <c:axId val="0"/>
      </c:bar3DChart>
      <c:catAx>
        <c:axId val="11186953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118702544"/>
        <c:crosses val="autoZero"/>
        <c:auto val="1"/>
        <c:lblAlgn val="ctr"/>
        <c:lblOffset val="100"/>
        <c:noMultiLvlLbl val="0"/>
      </c:catAx>
      <c:valAx>
        <c:axId val="1118702544"/>
        <c:scaling>
          <c:orientation val="minMax"/>
        </c:scaling>
        <c:delete val="1"/>
        <c:axPos val="l"/>
        <c:numFmt formatCode="General" sourceLinked="1"/>
        <c:majorTickMark val="none"/>
        <c:minorTickMark val="none"/>
        <c:tickLblPos val="nextTo"/>
        <c:crossAx val="1118695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'male and female cat '!$B$1</c:f>
              <c:strCache>
                <c:ptCount val="1"/>
                <c:pt idx="0">
                  <c:v>quantity_of_male</c:v>
                </c:pt>
              </c:strCache>
            </c:strRef>
          </c:tx>
          <c:spPr>
            <a:solidFill>
              <a:schemeClr val="accent1"/>
            </a:solidFill>
            <a:ln>
              <a:noFill/>
            </a:ln>
            <a:effectLst/>
            <a:sp3d/>
          </c:spPr>
          <c:invertIfNegative val="0"/>
          <c:dLbls>
            <c:delete val="1"/>
          </c:dLbls>
          <c:cat>
            <c:strRef>
              <c:f>'male and female cat '!$A$2:$A$13</c:f>
              <c:strCache>
                <c:ptCount val="12"/>
                <c:pt idx="0">
                  <c:v>Grocery</c:v>
                </c:pt>
                <c:pt idx="1">
                  <c:v>Fashion</c:v>
                </c:pt>
                <c:pt idx="2">
                  <c:v>Personal Care</c:v>
                </c:pt>
                <c:pt idx="3">
                  <c:v>Digital</c:v>
                </c:pt>
                <c:pt idx="4">
                  <c:v>Home Care</c:v>
                </c:pt>
                <c:pt idx="5">
                  <c:v>Electronics</c:v>
                </c:pt>
                <c:pt idx="6">
                  <c:v>Dairy</c:v>
                </c:pt>
                <c:pt idx="7">
                  <c:v>Beverages</c:v>
                </c:pt>
                <c:pt idx="8">
                  <c:v>Snacks</c:v>
                </c:pt>
                <c:pt idx="9">
                  <c:v>Meat</c:v>
                </c:pt>
                <c:pt idx="10">
                  <c:v>Poultry</c:v>
                </c:pt>
                <c:pt idx="11">
                  <c:v>Health</c:v>
                </c:pt>
              </c:strCache>
            </c:strRef>
          </c:cat>
          <c:val>
            <c:numRef>
              <c:f>'male and female cat '!$B$2:$B$13</c:f>
              <c:numCache>
                <c:formatCode>General</c:formatCode>
                <c:ptCount val="12"/>
                <c:pt idx="0">
                  <c:v>1707</c:v>
                </c:pt>
                <c:pt idx="1">
                  <c:v>819</c:v>
                </c:pt>
                <c:pt idx="2">
                  <c:v>852</c:v>
                </c:pt>
                <c:pt idx="3">
                  <c:v>525</c:v>
                </c:pt>
                <c:pt idx="4">
                  <c:v>476</c:v>
                </c:pt>
                <c:pt idx="5">
                  <c:v>345</c:v>
                </c:pt>
                <c:pt idx="6">
                  <c:v>177</c:v>
                </c:pt>
                <c:pt idx="7">
                  <c:v>814</c:v>
                </c:pt>
                <c:pt idx="8">
                  <c:v>468</c:v>
                </c:pt>
                <c:pt idx="9">
                  <c:v>155</c:v>
                </c:pt>
                <c:pt idx="10">
                  <c:v>148</c:v>
                </c:pt>
                <c:pt idx="11">
                  <c:v>290</c:v>
                </c:pt>
              </c:numCache>
            </c:numRef>
          </c:val>
          <c:extLst>
            <c:ext xmlns:c16="http://schemas.microsoft.com/office/drawing/2014/chart" uri="{C3380CC4-5D6E-409C-BE32-E72D297353CC}">
              <c16:uniqueId val="{00000000-7B74-413D-9B55-2B6E066C6881}"/>
            </c:ext>
          </c:extLst>
        </c:ser>
        <c:ser>
          <c:idx val="1"/>
          <c:order val="1"/>
          <c:tx>
            <c:strRef>
              <c:f>'male and female cat '!$C$1</c:f>
              <c:strCache>
                <c:ptCount val="1"/>
                <c:pt idx="0">
                  <c:v>quantity_of_female</c:v>
                </c:pt>
              </c:strCache>
            </c:strRef>
          </c:tx>
          <c:spPr>
            <a:solidFill>
              <a:schemeClr val="accent2"/>
            </a:solidFill>
            <a:ln>
              <a:noFill/>
            </a:ln>
            <a:effectLst/>
            <a:sp3d/>
          </c:spPr>
          <c:invertIfNegative val="0"/>
          <c:dLbls>
            <c:delete val="1"/>
          </c:dLbls>
          <c:cat>
            <c:strRef>
              <c:f>'male and female cat '!$A$2:$A$13</c:f>
              <c:strCache>
                <c:ptCount val="12"/>
                <c:pt idx="0">
                  <c:v>Grocery</c:v>
                </c:pt>
                <c:pt idx="1">
                  <c:v>Fashion</c:v>
                </c:pt>
                <c:pt idx="2">
                  <c:v>Personal Care</c:v>
                </c:pt>
                <c:pt idx="3">
                  <c:v>Digital</c:v>
                </c:pt>
                <c:pt idx="4">
                  <c:v>Home Care</c:v>
                </c:pt>
                <c:pt idx="5">
                  <c:v>Electronics</c:v>
                </c:pt>
                <c:pt idx="6">
                  <c:v>Dairy</c:v>
                </c:pt>
                <c:pt idx="7">
                  <c:v>Beverages</c:v>
                </c:pt>
                <c:pt idx="8">
                  <c:v>Snacks</c:v>
                </c:pt>
                <c:pt idx="9">
                  <c:v>Meat</c:v>
                </c:pt>
                <c:pt idx="10">
                  <c:v>Poultry</c:v>
                </c:pt>
                <c:pt idx="11">
                  <c:v>Health</c:v>
                </c:pt>
              </c:strCache>
            </c:strRef>
          </c:cat>
          <c:val>
            <c:numRef>
              <c:f>'male and female cat '!$C$2:$C$13</c:f>
              <c:numCache>
                <c:formatCode>General</c:formatCode>
                <c:ptCount val="12"/>
                <c:pt idx="0">
                  <c:v>1228</c:v>
                </c:pt>
                <c:pt idx="1">
                  <c:v>574</c:v>
                </c:pt>
                <c:pt idx="2">
                  <c:v>622</c:v>
                </c:pt>
                <c:pt idx="3">
                  <c:v>323</c:v>
                </c:pt>
                <c:pt idx="4">
                  <c:v>370</c:v>
                </c:pt>
                <c:pt idx="5">
                  <c:v>256</c:v>
                </c:pt>
                <c:pt idx="6">
                  <c:v>101</c:v>
                </c:pt>
                <c:pt idx="7">
                  <c:v>738</c:v>
                </c:pt>
                <c:pt idx="8">
                  <c:v>407</c:v>
                </c:pt>
                <c:pt idx="9">
                  <c:v>113</c:v>
                </c:pt>
                <c:pt idx="10">
                  <c:v>156</c:v>
                </c:pt>
                <c:pt idx="11">
                  <c:v>284</c:v>
                </c:pt>
              </c:numCache>
            </c:numRef>
          </c:val>
          <c:extLst>
            <c:ext xmlns:c16="http://schemas.microsoft.com/office/drawing/2014/chart" uri="{C3380CC4-5D6E-409C-BE32-E72D297353CC}">
              <c16:uniqueId val="{00000001-7B74-413D-9B55-2B6E066C6881}"/>
            </c:ext>
          </c:extLst>
        </c:ser>
        <c:dLbls>
          <c:showLegendKey val="0"/>
          <c:showVal val="1"/>
          <c:showCatName val="0"/>
          <c:showSerName val="0"/>
          <c:showPercent val="0"/>
          <c:showBubbleSize val="0"/>
        </c:dLbls>
        <c:gapWidth val="150"/>
        <c:shape val="box"/>
        <c:axId val="1260463311"/>
        <c:axId val="1260474831"/>
        <c:axId val="0"/>
      </c:bar3DChart>
      <c:catAx>
        <c:axId val="12604633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60474831"/>
        <c:crosses val="autoZero"/>
        <c:auto val="1"/>
        <c:lblAlgn val="ctr"/>
        <c:lblOffset val="100"/>
        <c:noMultiLvlLbl val="0"/>
      </c:catAx>
      <c:valAx>
        <c:axId val="1260474831"/>
        <c:scaling>
          <c:orientation val="minMax"/>
        </c:scaling>
        <c:delete val="1"/>
        <c:axPos val="l"/>
        <c:numFmt formatCode="General" sourceLinked="1"/>
        <c:majorTickMark val="none"/>
        <c:minorTickMark val="none"/>
        <c:tickLblPos val="nextTo"/>
        <c:crossAx val="1260463311"/>
        <c:crosses val="autoZero"/>
        <c:crossBetween val="between"/>
      </c:valAx>
      <c:spPr>
        <a:noFill/>
        <a:ln>
          <a:noFill/>
        </a:ln>
        <a:effectLst/>
      </c:spPr>
    </c:plotArea>
    <c:legend>
      <c:legendPos val="b"/>
      <c:layout>
        <c:manualLayout>
          <c:xMode val="edge"/>
          <c:yMode val="edge"/>
          <c:x val="0.2582363273293129"/>
          <c:y val="5.683835439421607E-2"/>
          <c:w val="0.4122805260029519"/>
          <c:h val="6.0599697767429371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'most frequent payment  method'!$B$1</c:f>
              <c:strCache>
                <c:ptCount val="1"/>
                <c:pt idx="0">
                  <c:v>count</c:v>
                </c:pt>
              </c:strCache>
            </c:strRef>
          </c:tx>
          <c:spPr>
            <a:solidFill>
              <a:schemeClr val="accent1"/>
            </a:solidFill>
            <a:ln>
              <a:noFill/>
            </a:ln>
            <a:effectLst/>
            <a:sp3d/>
          </c:spPr>
          <c:invertIfNegative val="0"/>
          <c:dLbls>
            <c:spPr>
              <a:solidFill>
                <a:srgbClr val="E97132">
                  <a:lumMod val="60000"/>
                  <a:lumOff val="40000"/>
                </a:srgbClr>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050" b="1"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'most frequent payment  method'!$A$2:$A$6</c:f>
              <c:strCache>
                <c:ptCount val="5"/>
                <c:pt idx="0">
                  <c:v>Debit Card</c:v>
                </c:pt>
                <c:pt idx="1">
                  <c:v>COD</c:v>
                </c:pt>
                <c:pt idx="2">
                  <c:v>Credit Card</c:v>
                </c:pt>
                <c:pt idx="3">
                  <c:v>bKash</c:v>
                </c:pt>
                <c:pt idx="4">
                  <c:v>Nagad</c:v>
                </c:pt>
              </c:strCache>
            </c:strRef>
          </c:cat>
          <c:val>
            <c:numRef>
              <c:f>'most frequent payment  method'!$B$2:$B$6</c:f>
              <c:numCache>
                <c:formatCode>General</c:formatCode>
                <c:ptCount val="5"/>
                <c:pt idx="0">
                  <c:v>45</c:v>
                </c:pt>
                <c:pt idx="1">
                  <c:v>391</c:v>
                </c:pt>
                <c:pt idx="2">
                  <c:v>54</c:v>
                </c:pt>
                <c:pt idx="3">
                  <c:v>276</c:v>
                </c:pt>
                <c:pt idx="4">
                  <c:v>188</c:v>
                </c:pt>
              </c:numCache>
            </c:numRef>
          </c:val>
          <c:extLst>
            <c:ext xmlns:c16="http://schemas.microsoft.com/office/drawing/2014/chart" uri="{C3380CC4-5D6E-409C-BE32-E72D297353CC}">
              <c16:uniqueId val="{00000000-2573-463C-BB20-31554A3C97FF}"/>
            </c:ext>
          </c:extLst>
        </c:ser>
        <c:dLbls>
          <c:showLegendKey val="0"/>
          <c:showVal val="1"/>
          <c:showCatName val="0"/>
          <c:showSerName val="0"/>
          <c:showPercent val="0"/>
          <c:showBubbleSize val="0"/>
        </c:dLbls>
        <c:gapWidth val="150"/>
        <c:shape val="box"/>
        <c:axId val="1184718575"/>
        <c:axId val="1184719055"/>
        <c:axId val="0"/>
      </c:bar3DChart>
      <c:catAx>
        <c:axId val="11847185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184719055"/>
        <c:crosses val="autoZero"/>
        <c:auto val="1"/>
        <c:lblAlgn val="ctr"/>
        <c:lblOffset val="100"/>
        <c:noMultiLvlLbl val="0"/>
      </c:catAx>
      <c:valAx>
        <c:axId val="1184719055"/>
        <c:scaling>
          <c:orientation val="minMax"/>
        </c:scaling>
        <c:delete val="1"/>
        <c:axPos val="l"/>
        <c:numFmt formatCode="General" sourceLinked="1"/>
        <c:majorTickMark val="none"/>
        <c:minorTickMark val="none"/>
        <c:tickLblPos val="nextTo"/>
        <c:crossAx val="11847185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'relation between payment method'!$A$2</c:f>
              <c:strCache>
                <c:ptCount val="1"/>
                <c:pt idx="0">
                  <c:v>Completed</c:v>
                </c:pt>
              </c:strCache>
            </c:strRef>
          </c:tx>
          <c:spPr>
            <a:solidFill>
              <a:srgbClr val="00B050"/>
            </a:solidFill>
            <a:ln>
              <a:noFill/>
            </a:ln>
            <a:effectLst/>
            <a:sp3d/>
          </c:spPr>
          <c:invertIfNegative val="0"/>
          <c:cat>
            <c:strRef>
              <c:f>'relation between payment method'!$B$1:$F$1</c:f>
              <c:strCache>
                <c:ptCount val="5"/>
                <c:pt idx="0">
                  <c:v>debit_card</c:v>
                </c:pt>
                <c:pt idx="1">
                  <c:v>cod</c:v>
                </c:pt>
                <c:pt idx="2">
                  <c:v>credit_card</c:v>
                </c:pt>
                <c:pt idx="3">
                  <c:v>bkash</c:v>
                </c:pt>
                <c:pt idx="4">
                  <c:v>nagad</c:v>
                </c:pt>
              </c:strCache>
            </c:strRef>
          </c:cat>
          <c:val>
            <c:numRef>
              <c:f>'relation between payment method'!$B$2:$F$2</c:f>
              <c:numCache>
                <c:formatCode>General</c:formatCode>
                <c:ptCount val="5"/>
                <c:pt idx="0">
                  <c:v>35</c:v>
                </c:pt>
                <c:pt idx="1">
                  <c:v>300</c:v>
                </c:pt>
                <c:pt idx="2">
                  <c:v>39</c:v>
                </c:pt>
                <c:pt idx="3">
                  <c:v>202</c:v>
                </c:pt>
                <c:pt idx="4">
                  <c:v>137</c:v>
                </c:pt>
              </c:numCache>
            </c:numRef>
          </c:val>
          <c:extLst>
            <c:ext xmlns:c16="http://schemas.microsoft.com/office/drawing/2014/chart" uri="{C3380CC4-5D6E-409C-BE32-E72D297353CC}">
              <c16:uniqueId val="{00000000-E397-4D4B-96A4-C3CA6B5183D4}"/>
            </c:ext>
          </c:extLst>
        </c:ser>
        <c:ser>
          <c:idx val="1"/>
          <c:order val="1"/>
          <c:tx>
            <c:strRef>
              <c:f>'relation between payment method'!$A$3</c:f>
              <c:strCache>
                <c:ptCount val="1"/>
                <c:pt idx="0">
                  <c:v>Cancelled</c:v>
                </c:pt>
              </c:strCache>
            </c:strRef>
          </c:tx>
          <c:spPr>
            <a:solidFill>
              <a:srgbClr val="FF0000"/>
            </a:solidFill>
            <a:ln>
              <a:noFill/>
            </a:ln>
            <a:effectLst/>
            <a:sp3d/>
          </c:spPr>
          <c:invertIfNegative val="0"/>
          <c:cat>
            <c:strRef>
              <c:f>'relation between payment method'!$B$1:$F$1</c:f>
              <c:strCache>
                <c:ptCount val="5"/>
                <c:pt idx="0">
                  <c:v>debit_card</c:v>
                </c:pt>
                <c:pt idx="1">
                  <c:v>cod</c:v>
                </c:pt>
                <c:pt idx="2">
                  <c:v>credit_card</c:v>
                </c:pt>
                <c:pt idx="3">
                  <c:v>bkash</c:v>
                </c:pt>
                <c:pt idx="4">
                  <c:v>nagad</c:v>
                </c:pt>
              </c:strCache>
            </c:strRef>
          </c:cat>
          <c:val>
            <c:numRef>
              <c:f>'relation between payment method'!$B$3:$F$3</c:f>
              <c:numCache>
                <c:formatCode>General</c:formatCode>
                <c:ptCount val="5"/>
                <c:pt idx="0">
                  <c:v>18</c:v>
                </c:pt>
                <c:pt idx="1">
                  <c:v>97</c:v>
                </c:pt>
                <c:pt idx="2">
                  <c:v>11</c:v>
                </c:pt>
                <c:pt idx="3">
                  <c:v>73</c:v>
                </c:pt>
                <c:pt idx="4">
                  <c:v>47</c:v>
                </c:pt>
              </c:numCache>
            </c:numRef>
          </c:val>
          <c:extLst>
            <c:ext xmlns:c16="http://schemas.microsoft.com/office/drawing/2014/chart" uri="{C3380CC4-5D6E-409C-BE32-E72D297353CC}">
              <c16:uniqueId val="{00000001-E397-4D4B-96A4-C3CA6B5183D4}"/>
            </c:ext>
          </c:extLst>
        </c:ser>
        <c:ser>
          <c:idx val="2"/>
          <c:order val="2"/>
          <c:tx>
            <c:strRef>
              <c:f>'relation between payment method'!$A$4</c:f>
              <c:strCache>
                <c:ptCount val="1"/>
                <c:pt idx="0">
                  <c:v>Pending</c:v>
                </c:pt>
              </c:strCache>
            </c:strRef>
          </c:tx>
          <c:spPr>
            <a:solidFill>
              <a:schemeClr val="accent1">
                <a:lumMod val="60000"/>
                <a:lumOff val="40000"/>
              </a:schemeClr>
            </a:solidFill>
            <a:ln>
              <a:noFill/>
            </a:ln>
            <a:effectLst/>
            <a:sp3d/>
          </c:spPr>
          <c:invertIfNegative val="0"/>
          <c:cat>
            <c:strRef>
              <c:f>'relation between payment method'!$B$1:$F$1</c:f>
              <c:strCache>
                <c:ptCount val="5"/>
                <c:pt idx="0">
                  <c:v>debit_card</c:v>
                </c:pt>
                <c:pt idx="1">
                  <c:v>cod</c:v>
                </c:pt>
                <c:pt idx="2">
                  <c:v>credit_card</c:v>
                </c:pt>
                <c:pt idx="3">
                  <c:v>bkash</c:v>
                </c:pt>
                <c:pt idx="4">
                  <c:v>nagad</c:v>
                </c:pt>
              </c:strCache>
            </c:strRef>
          </c:cat>
          <c:val>
            <c:numRef>
              <c:f>'relation between payment method'!$B$4:$F$4</c:f>
              <c:numCache>
                <c:formatCode>General</c:formatCode>
                <c:ptCount val="5"/>
                <c:pt idx="0">
                  <c:v>10</c:v>
                </c:pt>
                <c:pt idx="1">
                  <c:v>91</c:v>
                </c:pt>
                <c:pt idx="2">
                  <c:v>15</c:v>
                </c:pt>
                <c:pt idx="3">
                  <c:v>74</c:v>
                </c:pt>
                <c:pt idx="4">
                  <c:v>51</c:v>
                </c:pt>
              </c:numCache>
            </c:numRef>
          </c:val>
          <c:extLst>
            <c:ext xmlns:c16="http://schemas.microsoft.com/office/drawing/2014/chart" uri="{C3380CC4-5D6E-409C-BE32-E72D297353CC}">
              <c16:uniqueId val="{00000002-E397-4D4B-96A4-C3CA6B5183D4}"/>
            </c:ext>
          </c:extLst>
        </c:ser>
        <c:dLbls>
          <c:showLegendKey val="0"/>
          <c:showVal val="0"/>
          <c:showCatName val="0"/>
          <c:showSerName val="0"/>
          <c:showPercent val="0"/>
          <c:showBubbleSize val="0"/>
        </c:dLbls>
        <c:gapWidth val="150"/>
        <c:shape val="box"/>
        <c:axId val="1578142576"/>
        <c:axId val="1578143536"/>
        <c:axId val="0"/>
      </c:bar3DChart>
      <c:catAx>
        <c:axId val="157814257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578143536"/>
        <c:crosses val="autoZero"/>
        <c:auto val="1"/>
        <c:lblAlgn val="ctr"/>
        <c:lblOffset val="100"/>
        <c:noMultiLvlLbl val="0"/>
      </c:catAx>
      <c:valAx>
        <c:axId val="15781435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578142576"/>
        <c:crosses val="autoZero"/>
        <c:crossBetween val="between"/>
      </c:valAx>
      <c:spPr>
        <a:noFill/>
        <a:ln>
          <a:noFill/>
        </a:ln>
        <a:effectLst/>
      </c:spPr>
    </c:plotArea>
    <c:legend>
      <c:legendPos val="b"/>
      <c:layout>
        <c:manualLayout>
          <c:xMode val="edge"/>
          <c:yMode val="edge"/>
          <c:x val="0.43262467191601051"/>
          <c:y val="7.9281860600758244E-2"/>
          <c:w val="0.4514173228346457"/>
          <c:h val="7.8125546806649182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'average number of iems by metho'!$B$1</c:f>
              <c:strCache>
                <c:ptCount val="1"/>
                <c:pt idx="0">
                  <c:v>avg_items_order</c:v>
                </c:pt>
              </c:strCache>
            </c:strRef>
          </c:tx>
          <c:spPr>
            <a:solidFill>
              <a:schemeClr val="accent1"/>
            </a:solidFill>
            <a:ln>
              <a:noFill/>
            </a:ln>
            <a:effectLst/>
            <a:sp3d/>
          </c:spPr>
          <c:invertIfNegative val="0"/>
          <c:dLbls>
            <c:spPr>
              <a:solidFill>
                <a:srgbClr val="E97132">
                  <a:lumMod val="60000"/>
                  <a:lumOff val="40000"/>
                </a:srgbClr>
              </a:solidFill>
              <a:ln>
                <a:solidFill>
                  <a:sysClr val="windowText" lastClr="000000">
                    <a:lumMod val="25000"/>
                    <a:lumOff val="75000"/>
                  </a:sysClr>
                </a:solidFill>
              </a:ln>
              <a:effectLst/>
            </c:spPr>
            <c:txPr>
              <a:bodyPr rot="0" spcFirstLastPara="1" vertOverflow="clip" horzOverflow="clip" vert="horz" wrap="square" lIns="36576" tIns="18288" rIns="36576" bIns="18288" anchor="ctr" anchorCtr="1">
                <a:spAutoFit/>
              </a:bodyPr>
              <a:lstStyle/>
              <a:p>
                <a:pPr>
                  <a:defRPr sz="16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'average number of iems by metho'!$A$2:$A$6</c:f>
              <c:strCache>
                <c:ptCount val="5"/>
                <c:pt idx="0">
                  <c:v>bKash</c:v>
                </c:pt>
                <c:pt idx="1">
                  <c:v>COD</c:v>
                </c:pt>
                <c:pt idx="2">
                  <c:v>Credit Card</c:v>
                </c:pt>
                <c:pt idx="3">
                  <c:v>Debit Card</c:v>
                </c:pt>
                <c:pt idx="4">
                  <c:v>Nagad</c:v>
                </c:pt>
              </c:strCache>
            </c:strRef>
          </c:cat>
          <c:val>
            <c:numRef>
              <c:f>'average number of iems by metho'!$B$2:$B$6</c:f>
              <c:numCache>
                <c:formatCode>General</c:formatCode>
                <c:ptCount val="5"/>
                <c:pt idx="0">
                  <c:v>9.82</c:v>
                </c:pt>
                <c:pt idx="1">
                  <c:v>9.92</c:v>
                </c:pt>
                <c:pt idx="2">
                  <c:v>9.86</c:v>
                </c:pt>
                <c:pt idx="3">
                  <c:v>10.51</c:v>
                </c:pt>
                <c:pt idx="4">
                  <c:v>10.11</c:v>
                </c:pt>
              </c:numCache>
            </c:numRef>
          </c:val>
          <c:extLst>
            <c:ext xmlns:c16="http://schemas.microsoft.com/office/drawing/2014/chart" uri="{C3380CC4-5D6E-409C-BE32-E72D297353CC}">
              <c16:uniqueId val="{00000000-19D4-49E4-AD17-A035B4E199E4}"/>
            </c:ext>
          </c:extLst>
        </c:ser>
        <c:dLbls>
          <c:showLegendKey val="0"/>
          <c:showVal val="1"/>
          <c:showCatName val="0"/>
          <c:showSerName val="0"/>
          <c:showPercent val="0"/>
          <c:showBubbleSize val="0"/>
        </c:dLbls>
        <c:gapWidth val="150"/>
        <c:shape val="box"/>
        <c:axId val="1276205727"/>
        <c:axId val="1276218207"/>
        <c:axId val="0"/>
      </c:bar3DChart>
      <c:catAx>
        <c:axId val="127620572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76218207"/>
        <c:crosses val="autoZero"/>
        <c:auto val="1"/>
        <c:lblAlgn val="ctr"/>
        <c:lblOffset val="100"/>
        <c:noMultiLvlLbl val="0"/>
      </c:catAx>
      <c:valAx>
        <c:axId val="1276218207"/>
        <c:scaling>
          <c:orientation val="minMax"/>
        </c:scaling>
        <c:delete val="1"/>
        <c:axPos val="l"/>
        <c:numFmt formatCode="General" sourceLinked="1"/>
        <c:majorTickMark val="none"/>
        <c:minorTickMark val="none"/>
        <c:tickLblPos val="nextTo"/>
        <c:crossAx val="12762057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6732A-D20C-4D7F-9C63-8904410488BA}" type="datetimeFigureOut">
              <a:rPr lang="en-US" smtClean="0"/>
              <a:t>1/24/2026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1F2DBB-FB81-4AE3-86E1-FFDDB9748308}" type="slidenum">
              <a:rPr lang="en-US" smtClean="0"/>
              <a:t>‹#›</a:t>
            </a:fld>
            <a:endParaRPr lang="en-US"/>
          </a:p>
        </p:txBody>
      </p:sp>
    </p:spTree>
    <p:extLst>
      <p:ext uri="{BB962C8B-B14F-4D97-AF65-F5344CB8AC3E}">
        <p14:creationId xmlns:p14="http://schemas.microsoft.com/office/powerpoint/2010/main" val="4212540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1F2DBB-FB81-4AE3-86E1-FFDDB9748308}" type="slidenum">
              <a:rPr lang="en-US" smtClean="0"/>
              <a:t>1</a:t>
            </a:fld>
            <a:endParaRPr lang="en-US"/>
          </a:p>
        </p:txBody>
      </p:sp>
    </p:spTree>
    <p:extLst>
      <p:ext uri="{BB962C8B-B14F-4D97-AF65-F5344CB8AC3E}">
        <p14:creationId xmlns:p14="http://schemas.microsoft.com/office/powerpoint/2010/main" val="2154374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1F2DBB-FB81-4AE3-86E1-FFDDB9748308}" type="slidenum">
              <a:rPr lang="en-US" smtClean="0"/>
              <a:t>13</a:t>
            </a:fld>
            <a:endParaRPr lang="en-US"/>
          </a:p>
        </p:txBody>
      </p:sp>
    </p:spTree>
    <p:extLst>
      <p:ext uri="{BB962C8B-B14F-4D97-AF65-F5344CB8AC3E}">
        <p14:creationId xmlns:p14="http://schemas.microsoft.com/office/powerpoint/2010/main" val="4221790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1F2DBB-FB81-4AE3-86E1-FFDDB9748308}" type="slidenum">
              <a:rPr lang="en-US" smtClean="0"/>
              <a:t>23</a:t>
            </a:fld>
            <a:endParaRPr lang="en-US"/>
          </a:p>
        </p:txBody>
      </p:sp>
    </p:spTree>
    <p:extLst>
      <p:ext uri="{BB962C8B-B14F-4D97-AF65-F5344CB8AC3E}">
        <p14:creationId xmlns:p14="http://schemas.microsoft.com/office/powerpoint/2010/main" val="2100357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6EA1DFD6-F4B4-4FC2-96C3-0FB0F58C7012}" type="datetime1">
              <a:rPr lang="en-US" smtClean="0"/>
              <a:t>1/24/2026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23039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E2BC7D36-D1FC-4762-B21E-AC9451E6449F}" type="datetime1">
              <a:rPr lang="en-US" smtClean="0"/>
              <a:t>1/24/2026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05062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47833017-C855-4069-A8D1-AD168BA6A2A2}" type="datetime1">
              <a:rPr lang="en-US" smtClean="0"/>
              <a:t>1/24/2026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360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F7EAD906-CED3-4B3C-A51A-A00A0FAFE285}" type="datetime1">
              <a:rPr lang="en-US" smtClean="0"/>
              <a:t>1/24/2026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41495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C5DB250C-415B-4946-BDF6-3B8A7237DFA4}" type="datetime1">
              <a:rPr lang="en-US" smtClean="0"/>
              <a:t>1/24/2026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90345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A169D2FD-6180-4D26-A5F8-E876039A026D}" type="datetime1">
              <a:rPr lang="en-US" smtClean="0"/>
              <a:t>1/24/2026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22432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E03ECFA2-982A-4820-A846-8960FB563ACF}" type="datetime1">
              <a:rPr lang="en-US" smtClean="0"/>
              <a:t>1/24/2026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01772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5935D92F-EA2D-4E06-9305-F2E6752257DA}" type="datetime1">
              <a:rPr lang="en-US" smtClean="0"/>
              <a:t>1/24/2026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32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CBB9DD01-E248-44D5-906E-AD06D8711682}" type="datetime1">
              <a:rPr lang="en-US" smtClean="0"/>
              <a:t>1/24/2026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8906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51ED5EEA-F95B-4935-BE06-56D6AA124F25}" type="datetime1">
              <a:rPr lang="en-US" smtClean="0"/>
              <a:t>1/24/2026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6672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EA3E1334-6617-4170-8E9A-4E19C881F947}" type="datetime1">
              <a:rPr lang="en-US" smtClean="0"/>
              <a:t>1/24/2026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424661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C2E49C"/>
            </a:gs>
            <a:gs pos="48000">
              <a:srgbClr val="EEF7B7"/>
            </a:gs>
            <a:gs pos="100000">
              <a:srgbClr val="C2E49C"/>
            </a:gs>
          </a:gsLst>
          <a:lin ang="162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BA2C057C-3E36-4577-BF51-481C2E77CB37}" type="datetime1">
              <a:rPr lang="en-US" smtClean="0"/>
              <a:t>1/24/2026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48981813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hf sldNum="0" hdr="0" ftr="0" dt="0"/>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8CC48C-9275-4EFA-9B84-8E818500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523D0C-0167-D377-0166-ACB000398C9A}"/>
              </a:ext>
            </a:extLst>
          </p:cNvPr>
          <p:cNvSpPr>
            <a:spLocks noGrp="1"/>
          </p:cNvSpPr>
          <p:nvPr>
            <p:ph type="ctrTitle"/>
          </p:nvPr>
        </p:nvSpPr>
        <p:spPr>
          <a:xfrm>
            <a:off x="640080" y="3977640"/>
            <a:ext cx="10908792" cy="1069848"/>
          </a:xfrm>
        </p:spPr>
        <p:txBody>
          <a:bodyPr anchor="ctr">
            <a:normAutofit/>
          </a:bodyPr>
          <a:lstStyle/>
          <a:p>
            <a:pPr algn="ctr"/>
            <a:r>
              <a:rPr lang="en-US" sz="6000" dirty="0" err="1"/>
              <a:t>UrbarnCart</a:t>
            </a:r>
            <a:r>
              <a:rPr lang="en-US" sz="6000" dirty="0"/>
              <a:t> Sales Analysis</a:t>
            </a:r>
          </a:p>
        </p:txBody>
      </p:sp>
      <p:sp>
        <p:nvSpPr>
          <p:cNvPr id="3" name="Subtitle 2">
            <a:extLst>
              <a:ext uri="{FF2B5EF4-FFF2-40B4-BE49-F238E27FC236}">
                <a16:creationId xmlns:a16="http://schemas.microsoft.com/office/drawing/2014/main" id="{723AD11B-D2E5-D8B5-53DE-E226900A3363}"/>
              </a:ext>
            </a:extLst>
          </p:cNvPr>
          <p:cNvSpPr>
            <a:spLocks noGrp="1"/>
          </p:cNvSpPr>
          <p:nvPr>
            <p:ph type="subTitle" idx="1"/>
          </p:nvPr>
        </p:nvSpPr>
        <p:spPr>
          <a:xfrm>
            <a:off x="640080" y="4854893"/>
            <a:ext cx="10908792" cy="548640"/>
          </a:xfrm>
        </p:spPr>
        <p:txBody>
          <a:bodyPr anchor="ctr">
            <a:normAutofit/>
          </a:bodyPr>
          <a:lstStyle/>
          <a:p>
            <a:pPr algn="ctr"/>
            <a:r>
              <a:rPr lang="en-US" sz="2400" dirty="0">
                <a:latin typeface="+mj-lt"/>
              </a:rPr>
              <a:t>This is a projects based on PostgreSQL</a:t>
            </a:r>
          </a:p>
        </p:txBody>
      </p:sp>
      <p:pic>
        <p:nvPicPr>
          <p:cNvPr id="4" name="Picture 3" descr="A colorful light bulb with business icons">
            <a:extLst>
              <a:ext uri="{FF2B5EF4-FFF2-40B4-BE49-F238E27FC236}">
                <a16:creationId xmlns:a16="http://schemas.microsoft.com/office/drawing/2014/main" id="{5844697C-7DC4-D088-B62F-A355749725E6}"/>
              </a:ext>
            </a:extLst>
          </p:cNvPr>
          <p:cNvPicPr>
            <a:picLocks noChangeAspect="1"/>
          </p:cNvPicPr>
          <p:nvPr/>
        </p:nvPicPr>
        <p:blipFill>
          <a:blip r:embed="rId3"/>
          <a:srcRect t="33505" b="17318"/>
          <a:stretch>
            <a:fillRect/>
          </a:stretch>
        </p:blipFill>
        <p:spPr>
          <a:xfrm>
            <a:off x="-3027" y="-925988"/>
            <a:ext cx="12191979" cy="4465001"/>
          </a:xfrm>
          <a:custGeom>
            <a:avLst/>
            <a:gdLst/>
            <a:ahLst/>
            <a:cxnLst/>
            <a:rect l="l" t="t" r="r" b="b"/>
            <a:pathLst>
              <a:path w="12191999" h="4196982">
                <a:moveTo>
                  <a:pt x="0" y="0"/>
                </a:moveTo>
                <a:lnTo>
                  <a:pt x="12191999" y="0"/>
                </a:lnTo>
                <a:lnTo>
                  <a:pt x="12191999" y="4170459"/>
                </a:lnTo>
                <a:lnTo>
                  <a:pt x="11986461" y="4175111"/>
                </a:lnTo>
                <a:cubicBezTo>
                  <a:pt x="11912297" y="4174136"/>
                  <a:pt x="11838168" y="4170508"/>
                  <a:pt x="11764214" y="4164231"/>
                </a:cubicBezTo>
                <a:cubicBezTo>
                  <a:pt x="11656850" y="4156227"/>
                  <a:pt x="11548596" y="4145173"/>
                  <a:pt x="11441995" y="4165502"/>
                </a:cubicBezTo>
                <a:cubicBezTo>
                  <a:pt x="11324975" y="4187991"/>
                  <a:pt x="11208081" y="4188118"/>
                  <a:pt x="11090044" y="4182401"/>
                </a:cubicBezTo>
                <a:cubicBezTo>
                  <a:pt x="10989160" y="4177573"/>
                  <a:pt x="10888657" y="4152161"/>
                  <a:pt x="10787011" y="4178970"/>
                </a:cubicBezTo>
                <a:cubicBezTo>
                  <a:pt x="10776897" y="4180444"/>
                  <a:pt x="10766592" y="4180012"/>
                  <a:pt x="10756643" y="4177700"/>
                </a:cubicBezTo>
                <a:cubicBezTo>
                  <a:pt x="10645468" y="4162326"/>
                  <a:pt x="10533530" y="4174904"/>
                  <a:pt x="10421973" y="4170584"/>
                </a:cubicBezTo>
                <a:cubicBezTo>
                  <a:pt x="10370515" y="4168551"/>
                  <a:pt x="10318040" y="4169695"/>
                  <a:pt x="10267216" y="4164231"/>
                </a:cubicBezTo>
                <a:cubicBezTo>
                  <a:pt x="10150577" y="4151780"/>
                  <a:pt x="10034192" y="4145173"/>
                  <a:pt x="9918824" y="4174523"/>
                </a:cubicBezTo>
                <a:cubicBezTo>
                  <a:pt x="9885153" y="4182439"/>
                  <a:pt x="9850745" y="4186695"/>
                  <a:pt x="9816160" y="4187229"/>
                </a:cubicBezTo>
                <a:cubicBezTo>
                  <a:pt x="9703206" y="4191295"/>
                  <a:pt x="9590632" y="4183544"/>
                  <a:pt x="9478059" y="4177191"/>
                </a:cubicBezTo>
                <a:cubicBezTo>
                  <a:pt x="9399918" y="4172744"/>
                  <a:pt x="9321904" y="4163088"/>
                  <a:pt x="9243637" y="4171220"/>
                </a:cubicBezTo>
                <a:cubicBezTo>
                  <a:pt x="9198150" y="4175921"/>
                  <a:pt x="9152282" y="4175921"/>
                  <a:pt x="9106795" y="4171220"/>
                </a:cubicBezTo>
                <a:cubicBezTo>
                  <a:pt x="9022962" y="4161398"/>
                  <a:pt x="8938380" y="4159568"/>
                  <a:pt x="8854204" y="4165756"/>
                </a:cubicBezTo>
                <a:cubicBezTo>
                  <a:pt x="8728543" y="4176556"/>
                  <a:pt x="8603010" y="4185577"/>
                  <a:pt x="8476969" y="4168424"/>
                </a:cubicBezTo>
                <a:cubicBezTo>
                  <a:pt x="8405486" y="4157192"/>
                  <a:pt x="8332808" y="4155871"/>
                  <a:pt x="8260970" y="4164486"/>
                </a:cubicBezTo>
                <a:cubicBezTo>
                  <a:pt x="8089823" y="4188500"/>
                  <a:pt x="7918295" y="4180749"/>
                  <a:pt x="7746767" y="4170839"/>
                </a:cubicBezTo>
                <a:cubicBezTo>
                  <a:pt x="7632160" y="4164104"/>
                  <a:pt x="7517046" y="4151780"/>
                  <a:pt x="7402693" y="4168043"/>
                </a:cubicBezTo>
                <a:cubicBezTo>
                  <a:pt x="7256831" y="4188372"/>
                  <a:pt x="7110841" y="4181638"/>
                  <a:pt x="6964597" y="4175667"/>
                </a:cubicBezTo>
                <a:cubicBezTo>
                  <a:pt x="6857233" y="4171220"/>
                  <a:pt x="6749742" y="4157751"/>
                  <a:pt x="6642124" y="4174396"/>
                </a:cubicBezTo>
                <a:cubicBezTo>
                  <a:pt x="6631045" y="4175908"/>
                  <a:pt x="6619775" y="4174777"/>
                  <a:pt x="6609216" y="4171093"/>
                </a:cubicBezTo>
                <a:cubicBezTo>
                  <a:pt x="6568379" y="4157650"/>
                  <a:pt x="6524595" y="4155846"/>
                  <a:pt x="6482793" y="4165883"/>
                </a:cubicBezTo>
                <a:cubicBezTo>
                  <a:pt x="6405669" y="4182782"/>
                  <a:pt x="6328672" y="4190151"/>
                  <a:pt x="6250150" y="4174777"/>
                </a:cubicBezTo>
                <a:cubicBezTo>
                  <a:pt x="6217254" y="4167891"/>
                  <a:pt x="6183521" y="4165883"/>
                  <a:pt x="6150028" y="4168806"/>
                </a:cubicBezTo>
                <a:cubicBezTo>
                  <a:pt x="6020175" y="4181766"/>
                  <a:pt x="5890068" y="4176683"/>
                  <a:pt x="5760087" y="4174142"/>
                </a:cubicBezTo>
                <a:cubicBezTo>
                  <a:pt x="5521345" y="4169695"/>
                  <a:pt x="5282477" y="4174142"/>
                  <a:pt x="5044242" y="4151399"/>
                </a:cubicBezTo>
                <a:cubicBezTo>
                  <a:pt x="4979506" y="4145237"/>
                  <a:pt x="4914326" y="4141297"/>
                  <a:pt x="4849272" y="4142076"/>
                </a:cubicBezTo>
                <a:cubicBezTo>
                  <a:pt x="4784218" y="4142854"/>
                  <a:pt x="4719291" y="4148349"/>
                  <a:pt x="4655063" y="4161055"/>
                </a:cubicBezTo>
                <a:cubicBezTo>
                  <a:pt x="4447578" y="4201332"/>
                  <a:pt x="4239457" y="4203874"/>
                  <a:pt x="4029811" y="4187610"/>
                </a:cubicBezTo>
                <a:cubicBezTo>
                  <a:pt x="3943792" y="4180876"/>
                  <a:pt x="3857774" y="4169695"/>
                  <a:pt x="3771375" y="4171855"/>
                </a:cubicBezTo>
                <a:cubicBezTo>
                  <a:pt x="3623225" y="4175794"/>
                  <a:pt x="3474948" y="4167789"/>
                  <a:pt x="3326672" y="4169822"/>
                </a:cubicBezTo>
                <a:cubicBezTo>
                  <a:pt x="3322669" y="4170394"/>
                  <a:pt x="3318578" y="4169860"/>
                  <a:pt x="3314855" y="4168297"/>
                </a:cubicBezTo>
                <a:cubicBezTo>
                  <a:pt x="3278008" y="4143013"/>
                  <a:pt x="3237604" y="4152796"/>
                  <a:pt x="3199487" y="4159403"/>
                </a:cubicBezTo>
                <a:cubicBezTo>
                  <a:pt x="3072810" y="4181384"/>
                  <a:pt x="2946260" y="4192184"/>
                  <a:pt x="2817550" y="4175158"/>
                </a:cubicBezTo>
                <a:cubicBezTo>
                  <a:pt x="2694647" y="4157332"/>
                  <a:pt x="2569990" y="4155109"/>
                  <a:pt x="2446541" y="4168551"/>
                </a:cubicBezTo>
                <a:cubicBezTo>
                  <a:pt x="2276791" y="4188372"/>
                  <a:pt x="2107677" y="4184179"/>
                  <a:pt x="1938308" y="4168551"/>
                </a:cubicBezTo>
                <a:cubicBezTo>
                  <a:pt x="1869570" y="4162199"/>
                  <a:pt x="1799815" y="4151399"/>
                  <a:pt x="1731712" y="4167281"/>
                </a:cubicBezTo>
                <a:cubicBezTo>
                  <a:pt x="1647854" y="4186721"/>
                  <a:pt x="1564250" y="4180368"/>
                  <a:pt x="1480137" y="4176048"/>
                </a:cubicBezTo>
                <a:cubicBezTo>
                  <a:pt x="1373663" y="4170457"/>
                  <a:pt x="1267442" y="4154321"/>
                  <a:pt x="1160586" y="4167027"/>
                </a:cubicBezTo>
                <a:cubicBezTo>
                  <a:pt x="1111161" y="4172871"/>
                  <a:pt x="1062116" y="4182147"/>
                  <a:pt x="1012055" y="4179733"/>
                </a:cubicBezTo>
                <a:cubicBezTo>
                  <a:pt x="873562" y="4173380"/>
                  <a:pt x="735196" y="4165883"/>
                  <a:pt x="596449" y="4167027"/>
                </a:cubicBezTo>
                <a:cubicBezTo>
                  <a:pt x="538383" y="4167408"/>
                  <a:pt x="480699" y="4169314"/>
                  <a:pt x="422887" y="4173507"/>
                </a:cubicBezTo>
                <a:cubicBezTo>
                  <a:pt x="315015" y="4181384"/>
                  <a:pt x="207524" y="4170711"/>
                  <a:pt x="100033" y="4166900"/>
                </a:cubicBezTo>
                <a:lnTo>
                  <a:pt x="0" y="4171381"/>
                </a:lnTo>
                <a:close/>
              </a:path>
            </a:pathLst>
          </a:custGeom>
        </p:spPr>
      </p:pic>
      <p:sp>
        <p:nvSpPr>
          <p:cNvPr id="5" name="Subtitle 2">
            <a:extLst>
              <a:ext uri="{FF2B5EF4-FFF2-40B4-BE49-F238E27FC236}">
                <a16:creationId xmlns:a16="http://schemas.microsoft.com/office/drawing/2014/main" id="{A0AE7A07-282A-4DCB-B60E-547DE0C29E3A}"/>
              </a:ext>
            </a:extLst>
          </p:cNvPr>
          <p:cNvSpPr txBox="1">
            <a:spLocks/>
          </p:cNvSpPr>
          <p:nvPr/>
        </p:nvSpPr>
        <p:spPr>
          <a:xfrm>
            <a:off x="2701860" y="5500401"/>
            <a:ext cx="5279877" cy="548640"/>
          </a:xfrm>
          <a:prstGeom prst="rect">
            <a:avLst/>
          </a:prstGeom>
        </p:spPr>
        <p:txBody>
          <a:bodyPr vert="horz" lIns="91440" tIns="45720" rIns="91440" bIns="45720" rtlCol="0" anchor="ctr">
            <a:no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600" dirty="0">
                <a:latin typeface="+mj-lt"/>
              </a:rPr>
              <a:t>Naimur Rahman</a:t>
            </a:r>
          </a:p>
          <a:p>
            <a:pPr algn="ctr"/>
            <a:r>
              <a:rPr lang="en-US" sz="1600" dirty="0">
                <a:latin typeface="+mj-lt"/>
              </a:rPr>
              <a:t>Date:20—01-2026</a:t>
            </a:r>
          </a:p>
        </p:txBody>
      </p:sp>
    </p:spTree>
    <p:extLst>
      <p:ext uri="{BB962C8B-B14F-4D97-AF65-F5344CB8AC3E}">
        <p14:creationId xmlns:p14="http://schemas.microsoft.com/office/powerpoint/2010/main" val="27450378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D536BB-2388-45E0-4C58-420EEC6154F4}"/>
              </a:ext>
            </a:extLst>
          </p:cNvPr>
          <p:cNvSpPr txBox="1"/>
          <p:nvPr/>
        </p:nvSpPr>
        <p:spPr>
          <a:xfrm>
            <a:off x="1238249" y="926486"/>
            <a:ext cx="9144000" cy="1754326"/>
          </a:xfrm>
          <a:prstGeom prst="rect">
            <a:avLst/>
          </a:prstGeom>
          <a:noFill/>
        </p:spPr>
        <p:txBody>
          <a:bodyPr wrap="square" rtlCol="0">
            <a:spAutoFit/>
          </a:bodyPr>
          <a:lstStyle/>
          <a:p>
            <a:r>
              <a:rPr lang="en-US" dirty="0">
                <a:latin typeface="ADLaM Display" panose="020F0502020204030204" pitchFamily="2" charset="0"/>
                <a:ea typeface="ADLaM Display" panose="020F0502020204030204" pitchFamily="2" charset="0"/>
                <a:cs typeface="ADLaM Display" panose="020F0502020204030204" pitchFamily="2" charset="0"/>
              </a:rPr>
              <a:t>This project analyzes UrbanCart’s sales data using SQL to uncover actionable business insights related to revenue performance, product trends, and customer purchasing behavior. By querying transactional and dimensional data, the analysis explores key questions such as revenue distribution, top-performing and underperforming products, frequently purchased product combinations, customer ordering patterns, and order value drivers.</a:t>
            </a:r>
          </a:p>
        </p:txBody>
      </p:sp>
      <p:sp>
        <p:nvSpPr>
          <p:cNvPr id="8" name="TextBox 7">
            <a:extLst>
              <a:ext uri="{FF2B5EF4-FFF2-40B4-BE49-F238E27FC236}">
                <a16:creationId xmlns:a16="http://schemas.microsoft.com/office/drawing/2014/main" id="{362DCFAD-5521-AEC6-CF43-D91CF18BE22E}"/>
              </a:ext>
            </a:extLst>
          </p:cNvPr>
          <p:cNvSpPr txBox="1"/>
          <p:nvPr/>
        </p:nvSpPr>
        <p:spPr>
          <a:xfrm>
            <a:off x="1238250" y="372488"/>
            <a:ext cx="9715500" cy="461665"/>
          </a:xfrm>
          <a:prstGeom prst="rect">
            <a:avLst/>
          </a:prstGeom>
          <a:gradFill flip="none" rotWithShape="1">
            <a:gsLst>
              <a:gs pos="0">
                <a:schemeClr val="accent3">
                  <a:lumMod val="67000"/>
                </a:schemeClr>
              </a:gs>
              <a:gs pos="39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sz="2400">
                <a:latin typeface="ADLaM Display" panose="020F0502020204030204" pitchFamily="2" charset="0"/>
                <a:ea typeface="ADLaM Display" panose="020F0502020204030204" pitchFamily="2" charset="0"/>
                <a:cs typeface="ADLaM Display" panose="020F0502020204030204" pitchFamily="2" charset="0"/>
              </a:defRPr>
            </a:lvl1pPr>
          </a:lstStyle>
          <a:p>
            <a:r>
              <a:rPr lang="en-US" dirty="0"/>
              <a:t>About this project :</a:t>
            </a:r>
          </a:p>
        </p:txBody>
      </p:sp>
      <p:sp>
        <p:nvSpPr>
          <p:cNvPr id="9" name="TextBox 8">
            <a:extLst>
              <a:ext uri="{FF2B5EF4-FFF2-40B4-BE49-F238E27FC236}">
                <a16:creationId xmlns:a16="http://schemas.microsoft.com/office/drawing/2014/main" id="{F7B1E298-82DF-5D2B-E8DF-5C7136FCA2B5}"/>
              </a:ext>
            </a:extLst>
          </p:cNvPr>
          <p:cNvSpPr txBox="1"/>
          <p:nvPr/>
        </p:nvSpPr>
        <p:spPr>
          <a:xfrm>
            <a:off x="1181100" y="2675574"/>
            <a:ext cx="9715500" cy="461665"/>
          </a:xfrm>
          <a:prstGeom prst="rect">
            <a:avLst/>
          </a:prstGeom>
          <a:gradFill flip="none" rotWithShape="1">
            <a:gsLst>
              <a:gs pos="0">
                <a:schemeClr val="accent3">
                  <a:lumMod val="67000"/>
                </a:schemeClr>
              </a:gs>
              <a:gs pos="33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sz="2400">
                <a:latin typeface="ADLaM Display" panose="020F0502020204030204" pitchFamily="2" charset="0"/>
                <a:ea typeface="ADLaM Display" panose="020F0502020204030204" pitchFamily="2" charset="0"/>
                <a:cs typeface="ADLaM Display" panose="020F0502020204030204" pitchFamily="2" charset="0"/>
              </a:defRPr>
            </a:lvl1pPr>
          </a:lstStyle>
          <a:p>
            <a:r>
              <a:rPr lang="en-US" dirty="0"/>
              <a:t>Business problem and objectives:</a:t>
            </a:r>
          </a:p>
        </p:txBody>
      </p:sp>
      <p:sp>
        <p:nvSpPr>
          <p:cNvPr id="10" name="TextBox 9">
            <a:extLst>
              <a:ext uri="{FF2B5EF4-FFF2-40B4-BE49-F238E27FC236}">
                <a16:creationId xmlns:a16="http://schemas.microsoft.com/office/drawing/2014/main" id="{0D2EFB31-A0B3-25FC-BA84-3E3135B7C226}"/>
              </a:ext>
            </a:extLst>
          </p:cNvPr>
          <p:cNvSpPr txBox="1"/>
          <p:nvPr/>
        </p:nvSpPr>
        <p:spPr>
          <a:xfrm>
            <a:off x="1181100" y="2814073"/>
            <a:ext cx="9144000" cy="1477328"/>
          </a:xfrm>
          <a:prstGeom prst="rect">
            <a:avLst/>
          </a:prstGeom>
          <a:noFill/>
        </p:spPr>
        <p:txBody>
          <a:bodyPr wrap="square" rtlCol="0">
            <a:spAutoFit/>
          </a:bodyPr>
          <a:lstStyle/>
          <a:p>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50" indent="-285750">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sales performance of Urban Cart</a:t>
            </a:r>
          </a:p>
          <a:p>
            <a:pPr marL="285750" indent="-285750">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Identify top products, customers, and trends</a:t>
            </a:r>
          </a:p>
          <a:p>
            <a:pPr marL="285750" indent="-285750">
              <a:buFont typeface="Arial" panose="020B0604020202020204" pitchFamily="34" charset="0"/>
              <a:buChar char="•"/>
            </a:pPr>
            <a:r>
              <a:rPr lang="en-US" dirty="0">
                <a:latin typeface="ADLaM Display" panose="02010000000000000000" pitchFamily="2" charset="0"/>
                <a:ea typeface="ADLaM Display" panose="02010000000000000000" pitchFamily="2" charset="0"/>
                <a:cs typeface="ADLaM Display" panose="02010000000000000000" pitchFamily="2" charset="0"/>
              </a:rPr>
              <a:t>Support data-driven decision making</a:t>
            </a:r>
          </a:p>
          <a:p>
            <a:endParaRPr lang="en-US"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12" name="TextBox 11">
            <a:extLst>
              <a:ext uri="{FF2B5EF4-FFF2-40B4-BE49-F238E27FC236}">
                <a16:creationId xmlns:a16="http://schemas.microsoft.com/office/drawing/2014/main" id="{AF1E9F31-FF11-B7C1-7AC9-447F0D208BBC}"/>
              </a:ext>
            </a:extLst>
          </p:cNvPr>
          <p:cNvSpPr txBox="1"/>
          <p:nvPr/>
        </p:nvSpPr>
        <p:spPr>
          <a:xfrm>
            <a:off x="1181100" y="4034938"/>
            <a:ext cx="9772649" cy="461665"/>
          </a:xfrm>
          <a:prstGeom prst="rect">
            <a:avLst/>
          </a:prstGeom>
          <a:gradFill flip="none" rotWithShape="1">
            <a:gsLst>
              <a:gs pos="0">
                <a:schemeClr val="accent3">
                  <a:lumMod val="67000"/>
                </a:schemeClr>
              </a:gs>
              <a:gs pos="28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sz="2400">
                <a:latin typeface="ADLaM Display" panose="020F0502020204030204" pitchFamily="2" charset="0"/>
                <a:ea typeface="ADLaM Display" panose="020F0502020204030204" pitchFamily="2" charset="0"/>
                <a:cs typeface="ADLaM Display" panose="020F0502020204030204" pitchFamily="2" charset="0"/>
              </a:defRPr>
            </a:lvl1pPr>
          </a:lstStyle>
          <a:p>
            <a:r>
              <a:rPr lang="en-US" dirty="0"/>
              <a:t>Dataset Description :</a:t>
            </a:r>
          </a:p>
        </p:txBody>
      </p:sp>
      <p:sp>
        <p:nvSpPr>
          <p:cNvPr id="13" name="TextBox 12">
            <a:extLst>
              <a:ext uri="{FF2B5EF4-FFF2-40B4-BE49-F238E27FC236}">
                <a16:creationId xmlns:a16="http://schemas.microsoft.com/office/drawing/2014/main" id="{1946872E-D74C-DFBB-864C-1E35A11EE61E}"/>
              </a:ext>
            </a:extLst>
          </p:cNvPr>
          <p:cNvSpPr txBox="1"/>
          <p:nvPr/>
        </p:nvSpPr>
        <p:spPr>
          <a:xfrm>
            <a:off x="1238249" y="4549676"/>
            <a:ext cx="9144000" cy="2308324"/>
          </a:xfrm>
          <a:prstGeom prst="rect">
            <a:avLst/>
          </a:prstGeom>
          <a:noFill/>
        </p:spPr>
        <p:txBody>
          <a:bodyPr wrap="square" rtlCol="0">
            <a:spAutoFit/>
          </a:bodyPr>
          <a:lstStyle/>
          <a:p>
            <a:r>
              <a:rPr lang="en-US" b="1" dirty="0">
                <a:latin typeface="ADLaM Display" panose="02010000000000000000" pitchFamily="2" charset="0"/>
                <a:ea typeface="ADLaM Display" panose="02010000000000000000" pitchFamily="2" charset="0"/>
                <a:cs typeface="ADLaM Display" panose="02010000000000000000" pitchFamily="2" charset="0"/>
              </a:rPr>
              <a:t>Content</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50" indent="-285750">
              <a:buFont typeface="Wingdings" panose="05000000000000000000" pitchFamily="2" charset="2"/>
              <a:buChar char="q"/>
            </a:pPr>
            <a:r>
              <a:rPr lang="en-US" dirty="0">
                <a:latin typeface="ADLaM Display" panose="02010000000000000000" pitchFamily="2" charset="0"/>
                <a:ea typeface="ADLaM Display" panose="02010000000000000000" pitchFamily="2" charset="0"/>
                <a:cs typeface="ADLaM Display" panose="02010000000000000000" pitchFamily="2" charset="0"/>
              </a:rPr>
              <a:t>Tables used:</a:t>
            </a:r>
          </a:p>
          <a:p>
            <a:pPr marL="742950" lvl="1" indent="-285750">
              <a:buFont typeface="Arial" panose="020B0604020202020204" pitchFamily="34" charset="0"/>
              <a:buChar char="•"/>
            </a:pPr>
            <a:r>
              <a:rPr lang="en-US" dirty="0" err="1">
                <a:latin typeface="ADLaM Display" panose="02010000000000000000" pitchFamily="2" charset="0"/>
                <a:ea typeface="ADLaM Display" panose="02010000000000000000" pitchFamily="2" charset="0"/>
                <a:cs typeface="ADLaM Display" panose="02010000000000000000" pitchFamily="2" charset="0"/>
              </a:rPr>
              <a:t>fact_order</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742950" lvl="1" indent="-285750">
              <a:buFont typeface="Arial" panose="020B0604020202020204" pitchFamily="34" charset="0"/>
              <a:buChar char="•"/>
            </a:pPr>
            <a:r>
              <a:rPr lang="en-US" dirty="0" err="1">
                <a:latin typeface="ADLaM Display" panose="02010000000000000000" pitchFamily="2" charset="0"/>
                <a:ea typeface="ADLaM Display" panose="02010000000000000000" pitchFamily="2" charset="0"/>
                <a:cs typeface="ADLaM Display" panose="02010000000000000000" pitchFamily="2" charset="0"/>
              </a:rPr>
              <a:t>fact_order_items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742950" lvl="1" indent="-285750">
              <a:buFont typeface="Arial" panose="020B0604020202020204" pitchFamily="34" charset="0"/>
              <a:buChar char="•"/>
            </a:pPr>
            <a:r>
              <a:rPr lang="en-US" dirty="0" err="1">
                <a:latin typeface="ADLaM Display" panose="02010000000000000000" pitchFamily="2" charset="0"/>
                <a:ea typeface="ADLaM Display" panose="02010000000000000000" pitchFamily="2" charset="0"/>
                <a:cs typeface="ADLaM Display" panose="02010000000000000000" pitchFamily="2" charset="0"/>
              </a:rPr>
              <a:t>dim_products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742950" lvl="1" indent="-285750">
              <a:buFont typeface="Arial" panose="020B0604020202020204" pitchFamily="34" charset="0"/>
              <a:buChar char="•"/>
            </a:pPr>
            <a:r>
              <a:rPr lang="en-US" dirty="0" err="1">
                <a:latin typeface="ADLaM Display" panose="02010000000000000000" pitchFamily="2" charset="0"/>
                <a:ea typeface="ADLaM Display" panose="02010000000000000000" pitchFamily="2" charset="0"/>
                <a:cs typeface="ADLaM Display" panose="02010000000000000000" pitchFamily="2" charset="0"/>
              </a:rPr>
              <a:t>dim_customers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285750" indent="-285750">
              <a:buFont typeface="Wingdings" panose="05000000000000000000" pitchFamily="2" charset="2"/>
              <a:buChar char="q"/>
            </a:pPr>
            <a:r>
              <a:rPr lang="en-US" dirty="0">
                <a:latin typeface="ADLaM Display" panose="02010000000000000000" pitchFamily="2" charset="0"/>
                <a:ea typeface="ADLaM Display" panose="02010000000000000000" pitchFamily="2" charset="0"/>
                <a:cs typeface="ADLaM Display" panose="02010000000000000000" pitchFamily="2" charset="0"/>
              </a:rPr>
              <a:t>Time period: 10/1/2025-9/30/2025</a:t>
            </a:r>
          </a:p>
          <a:p>
            <a:pPr marL="285750" indent="-285750">
              <a:buFont typeface="Wingdings" panose="05000000000000000000" pitchFamily="2" charset="2"/>
              <a:buChar char="q"/>
            </a:pPr>
            <a:r>
              <a:rPr lang="en-US" dirty="0">
                <a:latin typeface="ADLaM Display" panose="02010000000000000000" pitchFamily="2" charset="0"/>
                <a:ea typeface="ADLaM Display" panose="02010000000000000000" pitchFamily="2" charset="0"/>
                <a:cs typeface="ADLaM Display" panose="02010000000000000000" pitchFamily="2" charset="0"/>
              </a:rPr>
              <a:t>Key metrics: revenue, quantity, orders</a:t>
            </a:r>
          </a:p>
        </p:txBody>
      </p:sp>
    </p:spTree>
    <p:extLst>
      <p:ext uri="{BB962C8B-B14F-4D97-AF65-F5344CB8AC3E}">
        <p14:creationId xmlns:p14="http://schemas.microsoft.com/office/powerpoint/2010/main" val="418579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5"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anim calcmode="lin" valueType="num">
                                      <p:cBhvr>
                                        <p:cTn id="31" dur="2000" fill="hold"/>
                                        <p:tgtEl>
                                          <p:spTgt spid="12"/>
                                        </p:tgtEl>
                                        <p:attrNameLst>
                                          <p:attrName>ppt_w</p:attrName>
                                        </p:attrNameLst>
                                      </p:cBhvr>
                                      <p:tavLst>
                                        <p:tav tm="0" fmla="#ppt_w*sin(2.5*pi*$)">
                                          <p:val>
                                            <p:fltVal val="0"/>
                                          </p:val>
                                        </p:tav>
                                        <p:tav tm="100000">
                                          <p:val>
                                            <p:fltVal val="1"/>
                                          </p:val>
                                        </p:tav>
                                      </p:tavLst>
                                    </p:anim>
                                    <p:anim calcmode="lin" valueType="num">
                                      <p:cBhvr>
                                        <p:cTn id="32"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0" grpId="0"/>
      <p:bldP spid="12"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17B9CD-9EC4-5901-5B10-10994DEB426A}"/>
              </a:ext>
            </a:extLst>
          </p:cNvPr>
          <p:cNvPicPr>
            <a:picLocks noChangeAspect="1"/>
          </p:cNvPicPr>
          <p:nvPr/>
        </p:nvPicPr>
        <p:blipFill>
          <a:blip r:embed="rId2"/>
          <a:stretch>
            <a:fillRect/>
          </a:stretch>
        </p:blipFill>
        <p:spPr>
          <a:xfrm>
            <a:off x="1209675" y="1464349"/>
            <a:ext cx="9772650" cy="5171090"/>
          </a:xfrm>
          <a:prstGeom prst="rect">
            <a:avLst/>
          </a:prstGeom>
          <a:noFill/>
          <a:ln>
            <a:solidFill>
              <a:schemeClr val="accent1">
                <a:alpha val="94000"/>
              </a:schemeClr>
            </a:solidFill>
          </a:ln>
        </p:spPr>
      </p:pic>
      <p:sp>
        <p:nvSpPr>
          <p:cNvPr id="2" name="TextBox 1">
            <a:extLst>
              <a:ext uri="{FF2B5EF4-FFF2-40B4-BE49-F238E27FC236}">
                <a16:creationId xmlns:a16="http://schemas.microsoft.com/office/drawing/2014/main" id="{AFECDB13-0DF1-A3F9-86DF-5FFB509FFA8B}"/>
              </a:ext>
            </a:extLst>
          </p:cNvPr>
          <p:cNvSpPr txBox="1"/>
          <p:nvPr/>
        </p:nvSpPr>
        <p:spPr>
          <a:xfrm>
            <a:off x="1209675" y="874096"/>
            <a:ext cx="9772650" cy="461665"/>
          </a:xfrm>
          <a:prstGeom prst="rect">
            <a:avLst/>
          </a:prstGeom>
          <a:gradFill flip="none" rotWithShape="1">
            <a:gsLst>
              <a:gs pos="0">
                <a:schemeClr val="accent3">
                  <a:lumMod val="67000"/>
                </a:schemeClr>
              </a:gs>
              <a:gs pos="26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sz="2400">
                <a:latin typeface="ADLaM Display" panose="020F0502020204030204" pitchFamily="2" charset="0"/>
                <a:ea typeface="ADLaM Display" panose="020F0502020204030204" pitchFamily="2" charset="0"/>
                <a:cs typeface="ADLaM Display" panose="020F0502020204030204" pitchFamily="2" charset="0"/>
              </a:defRPr>
            </a:lvl1pPr>
          </a:lstStyle>
          <a:p>
            <a:r>
              <a:rPr lang="en-US" dirty="0"/>
              <a:t>ER Diagram:</a:t>
            </a:r>
          </a:p>
        </p:txBody>
      </p:sp>
    </p:spTree>
    <p:extLst>
      <p:ext uri="{BB962C8B-B14F-4D97-AF65-F5344CB8AC3E}">
        <p14:creationId xmlns:p14="http://schemas.microsoft.com/office/powerpoint/2010/main" val="63994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CF90BE-1AF4-068E-BE56-118B811F8D7E}"/>
              </a:ext>
            </a:extLst>
          </p:cNvPr>
          <p:cNvSpPr txBox="1"/>
          <p:nvPr/>
        </p:nvSpPr>
        <p:spPr>
          <a:xfrm>
            <a:off x="593558" y="425577"/>
            <a:ext cx="11213431" cy="461665"/>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2400" dirty="0"/>
              <a:t>Order description:</a:t>
            </a:r>
          </a:p>
        </p:txBody>
      </p:sp>
      <p:sp>
        <p:nvSpPr>
          <p:cNvPr id="9" name="TextBox 8">
            <a:extLst>
              <a:ext uri="{FF2B5EF4-FFF2-40B4-BE49-F238E27FC236}">
                <a16:creationId xmlns:a16="http://schemas.microsoft.com/office/drawing/2014/main" id="{1DC487A7-6080-6442-9749-FAB3489DC8A5}"/>
              </a:ext>
            </a:extLst>
          </p:cNvPr>
          <p:cNvSpPr txBox="1"/>
          <p:nvPr/>
        </p:nvSpPr>
        <p:spPr>
          <a:xfrm>
            <a:off x="1509461" y="1239432"/>
            <a:ext cx="2893218" cy="369332"/>
          </a:xfrm>
          <a:prstGeom prst="rect">
            <a:avLst/>
          </a:prstGeom>
          <a:noFill/>
        </p:spPr>
        <p:txBody>
          <a:bodyPr wrap="square" rtlCol="0">
            <a:spAutoFit/>
          </a:bodyPr>
          <a:lstStyle/>
          <a:p>
            <a:pPr marL="285750" indent="-285750">
              <a:buFont typeface="Arial" panose="020B0604020202020204" pitchFamily="34" charset="0"/>
              <a:buChar char="•"/>
            </a:pPr>
            <a:r>
              <a:rPr lang="en-US" u="sng" dirty="0">
                <a:latin typeface="ADLaM Display" panose="02010000000000000000" pitchFamily="2" charset="0"/>
                <a:ea typeface="ADLaM Display" panose="02010000000000000000" pitchFamily="2" charset="0"/>
                <a:cs typeface="ADLaM Display" panose="02010000000000000000" pitchFamily="2" charset="0"/>
              </a:rPr>
              <a:t>Total order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1" name="Picture 10">
            <a:extLst>
              <a:ext uri="{FF2B5EF4-FFF2-40B4-BE49-F238E27FC236}">
                <a16:creationId xmlns:a16="http://schemas.microsoft.com/office/drawing/2014/main" id="{1731CC94-FA3D-92B0-A958-576662197C1B}"/>
              </a:ext>
            </a:extLst>
          </p:cNvPr>
          <p:cNvPicPr>
            <a:picLocks noChangeAspect="1"/>
          </p:cNvPicPr>
          <p:nvPr/>
        </p:nvPicPr>
        <p:blipFill>
          <a:blip r:embed="rId2"/>
          <a:stretch>
            <a:fillRect/>
          </a:stretch>
        </p:blipFill>
        <p:spPr>
          <a:xfrm>
            <a:off x="1509462" y="1910104"/>
            <a:ext cx="3976937" cy="369332"/>
          </a:xfrm>
          <a:prstGeom prst="rect">
            <a:avLst/>
          </a:prstGeom>
        </p:spPr>
      </p:pic>
      <p:pic>
        <p:nvPicPr>
          <p:cNvPr id="13" name="Picture 12">
            <a:extLst>
              <a:ext uri="{FF2B5EF4-FFF2-40B4-BE49-F238E27FC236}">
                <a16:creationId xmlns:a16="http://schemas.microsoft.com/office/drawing/2014/main" id="{B091634F-E4FC-0372-3510-B40D7334369A}"/>
              </a:ext>
            </a:extLst>
          </p:cNvPr>
          <p:cNvPicPr>
            <a:picLocks noChangeAspect="1"/>
          </p:cNvPicPr>
          <p:nvPr/>
        </p:nvPicPr>
        <p:blipFill>
          <a:blip r:embed="rId3"/>
          <a:stretch>
            <a:fillRect/>
          </a:stretch>
        </p:blipFill>
        <p:spPr>
          <a:xfrm>
            <a:off x="8122702" y="1684854"/>
            <a:ext cx="1124107" cy="762106"/>
          </a:xfrm>
          <a:prstGeom prst="rect">
            <a:avLst/>
          </a:prstGeom>
        </p:spPr>
      </p:pic>
      <p:sp>
        <p:nvSpPr>
          <p:cNvPr id="14" name="TextBox 13">
            <a:extLst>
              <a:ext uri="{FF2B5EF4-FFF2-40B4-BE49-F238E27FC236}">
                <a16:creationId xmlns:a16="http://schemas.microsoft.com/office/drawing/2014/main" id="{6A5AE979-371D-41F8-9FFA-5423E4497026}"/>
              </a:ext>
            </a:extLst>
          </p:cNvPr>
          <p:cNvSpPr txBox="1"/>
          <p:nvPr/>
        </p:nvSpPr>
        <p:spPr>
          <a:xfrm>
            <a:off x="8089107" y="1208673"/>
            <a:ext cx="2893218"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8" name="TextBox 17">
            <a:extLst>
              <a:ext uri="{FF2B5EF4-FFF2-40B4-BE49-F238E27FC236}">
                <a16:creationId xmlns:a16="http://schemas.microsoft.com/office/drawing/2014/main" id="{EA4B36D7-AAD1-9450-89F2-9FA38D471332}"/>
              </a:ext>
            </a:extLst>
          </p:cNvPr>
          <p:cNvSpPr txBox="1"/>
          <p:nvPr/>
        </p:nvSpPr>
        <p:spPr>
          <a:xfrm>
            <a:off x="1509462" y="2631626"/>
            <a:ext cx="4434138" cy="369332"/>
          </a:xfrm>
          <a:prstGeom prst="rect">
            <a:avLst/>
          </a:prstGeom>
          <a:noFill/>
        </p:spPr>
        <p:txBody>
          <a:bodyPr wrap="square" rtlCol="0">
            <a:spAutoFit/>
          </a:bodyPr>
          <a:lstStyle/>
          <a:p>
            <a:pPr marL="285750" indent="-285750">
              <a:buFont typeface="Arial" panose="020B0604020202020204" pitchFamily="34" charset="0"/>
              <a:buChar char="•"/>
            </a:pPr>
            <a:r>
              <a:rPr lang="en-US" u="sng" dirty="0">
                <a:latin typeface="ADLaM Display" panose="02010000000000000000" pitchFamily="2" charset="0"/>
                <a:ea typeface="ADLaM Display" panose="02010000000000000000" pitchFamily="2" charset="0"/>
                <a:cs typeface="ADLaM Display" panose="02010000000000000000" pitchFamily="2" charset="0"/>
              </a:rPr>
              <a:t>Total order without </a:t>
            </a:r>
            <a:r>
              <a:rPr lang="en-US" u="sng" dirty="0" err="1">
                <a:latin typeface="ADLaM Display" panose="02010000000000000000" pitchFamily="2" charset="0"/>
                <a:ea typeface="ADLaM Display" panose="02010000000000000000" pitchFamily="2" charset="0"/>
                <a:cs typeface="ADLaM Display" panose="02010000000000000000" pitchFamily="2" charset="0"/>
              </a:rPr>
              <a:t>calcelled</a:t>
            </a:r>
            <a:r>
              <a:rPr lang="en-US" u="sng" dirty="0">
                <a:latin typeface="ADLaM Display" panose="02010000000000000000" pitchFamily="2" charset="0"/>
                <a:ea typeface="ADLaM Display" panose="02010000000000000000" pitchFamily="2" charset="0"/>
                <a:cs typeface="ADLaM Display" panose="02010000000000000000" pitchFamily="2" charset="0"/>
              </a:rPr>
              <a:t> order </a:t>
            </a:r>
          </a:p>
        </p:txBody>
      </p:sp>
      <p:pic>
        <p:nvPicPr>
          <p:cNvPr id="21" name="Picture 20">
            <a:extLst>
              <a:ext uri="{FF2B5EF4-FFF2-40B4-BE49-F238E27FC236}">
                <a16:creationId xmlns:a16="http://schemas.microsoft.com/office/drawing/2014/main" id="{947D217C-ABFB-224F-3E52-69293E726A12}"/>
              </a:ext>
            </a:extLst>
          </p:cNvPr>
          <p:cNvPicPr>
            <a:picLocks noChangeAspect="1"/>
          </p:cNvPicPr>
          <p:nvPr/>
        </p:nvPicPr>
        <p:blipFill>
          <a:blip r:embed="rId4"/>
          <a:stretch>
            <a:fillRect/>
          </a:stretch>
        </p:blipFill>
        <p:spPr>
          <a:xfrm>
            <a:off x="8122702" y="2743104"/>
            <a:ext cx="1219370" cy="685896"/>
          </a:xfrm>
          <a:prstGeom prst="rect">
            <a:avLst/>
          </a:prstGeom>
        </p:spPr>
      </p:pic>
      <p:pic>
        <p:nvPicPr>
          <p:cNvPr id="23" name="Picture 22">
            <a:extLst>
              <a:ext uri="{FF2B5EF4-FFF2-40B4-BE49-F238E27FC236}">
                <a16:creationId xmlns:a16="http://schemas.microsoft.com/office/drawing/2014/main" id="{306481D4-2F4E-4718-36C3-73873F65244B}"/>
              </a:ext>
            </a:extLst>
          </p:cNvPr>
          <p:cNvPicPr>
            <a:picLocks noChangeAspect="1"/>
          </p:cNvPicPr>
          <p:nvPr/>
        </p:nvPicPr>
        <p:blipFill>
          <a:blip r:embed="rId5"/>
          <a:stretch>
            <a:fillRect/>
          </a:stretch>
        </p:blipFill>
        <p:spPr>
          <a:xfrm>
            <a:off x="1509462" y="3190842"/>
            <a:ext cx="6162926" cy="369332"/>
          </a:xfrm>
          <a:prstGeom prst="rect">
            <a:avLst/>
          </a:prstGeom>
        </p:spPr>
      </p:pic>
      <p:sp>
        <p:nvSpPr>
          <p:cNvPr id="24" name="TextBox 23">
            <a:extLst>
              <a:ext uri="{FF2B5EF4-FFF2-40B4-BE49-F238E27FC236}">
                <a16:creationId xmlns:a16="http://schemas.microsoft.com/office/drawing/2014/main" id="{B60AC35C-3FF1-B6D9-EBC0-3C78CBFF6E4A}"/>
              </a:ext>
            </a:extLst>
          </p:cNvPr>
          <p:cNvSpPr txBox="1"/>
          <p:nvPr/>
        </p:nvSpPr>
        <p:spPr>
          <a:xfrm>
            <a:off x="593558" y="4849980"/>
            <a:ext cx="11213431" cy="1446550"/>
          </a:xfrm>
          <a:prstGeom prst="rect">
            <a:avLst/>
          </a:prstGeom>
          <a:noFill/>
          <a:ln w="60325">
            <a:solidFill>
              <a:schemeClr val="accent1"/>
            </a:solidFill>
          </a:ln>
        </p:spPr>
        <p:txBody>
          <a:bodyPr wrap="square" rtlCol="0">
            <a:spAutoFit/>
          </a:bodyPr>
          <a:lstStyle/>
          <a:p>
            <a:pPr algn="ctr"/>
            <a:r>
              <a:rPr lang="en-US" sz="1600" b="1" i="1" u="sng" dirty="0">
                <a:latin typeface="ADLaM Display" panose="02010000000000000000" pitchFamily="2" charset="0"/>
                <a:ea typeface="ADLaM Display" panose="02010000000000000000" pitchFamily="2" charset="0"/>
                <a:cs typeface="ADLaM Display" panose="02010000000000000000" pitchFamily="2" charset="0"/>
              </a:rPr>
              <a:t>Order Summary (September 30, 2025 – October 1, 2025)</a:t>
            </a: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During this period, </a:t>
            </a:r>
            <a:r>
              <a:rPr lang="en-US" dirty="0" err="1">
                <a:latin typeface="ADLaM Display" panose="02010000000000000000" pitchFamily="2" charset="0"/>
                <a:ea typeface="ADLaM Display" panose="02010000000000000000" pitchFamily="2" charset="0"/>
                <a:cs typeface="ADLaM Display" panose="02010000000000000000" pitchFamily="2" charset="0"/>
              </a:rPr>
              <a:t>UrbanCart</a:t>
            </a:r>
            <a:r>
              <a:rPr lang="en-US" dirty="0">
                <a:latin typeface="ADLaM Display" panose="02010000000000000000" pitchFamily="2" charset="0"/>
                <a:ea typeface="ADLaM Display" panose="02010000000000000000" pitchFamily="2" charset="0"/>
                <a:cs typeface="ADLaM Display" panose="02010000000000000000" pitchFamily="2" charset="0"/>
              </a:rPr>
              <a:t> recorded a total of </a:t>
            </a:r>
            <a:r>
              <a:rPr lang="en-US" b="1" dirty="0">
                <a:latin typeface="ADLaM Display" panose="02010000000000000000" pitchFamily="2" charset="0"/>
                <a:ea typeface="ADLaM Display" panose="02010000000000000000" pitchFamily="2" charset="0"/>
                <a:cs typeface="ADLaM Display" panose="02010000000000000000" pitchFamily="2" charset="0"/>
              </a:rPr>
              <a:t>1,200 orders</a:t>
            </a:r>
            <a:r>
              <a:rPr lang="en-US" dirty="0">
                <a:latin typeface="ADLaM Display" panose="02010000000000000000" pitchFamily="2" charset="0"/>
                <a:ea typeface="ADLaM Display" panose="02010000000000000000" pitchFamily="2" charset="0"/>
                <a:cs typeface="ADLaM Display" panose="02010000000000000000" pitchFamily="2" charset="0"/>
              </a:rPr>
              <a:t>. Of these, </a:t>
            </a:r>
            <a:r>
              <a:rPr lang="en-US" b="1" dirty="0">
                <a:latin typeface="ADLaM Display" panose="02010000000000000000" pitchFamily="2" charset="0"/>
                <a:ea typeface="ADLaM Display" panose="02010000000000000000" pitchFamily="2" charset="0"/>
                <a:cs typeface="ADLaM Display" panose="02010000000000000000" pitchFamily="2" charset="0"/>
              </a:rPr>
              <a:t>713 orders were successfully completed</a:t>
            </a:r>
            <a:r>
              <a:rPr lang="en-US" dirty="0">
                <a:latin typeface="ADLaM Display" panose="02010000000000000000" pitchFamily="2" charset="0"/>
                <a:ea typeface="ADLaM Display" panose="02010000000000000000" pitchFamily="2" charset="0"/>
                <a:cs typeface="ADLaM Display" panose="02010000000000000000" pitchFamily="2" charset="0"/>
              </a:rPr>
              <a:t>. The remaining </a:t>
            </a:r>
            <a:r>
              <a:rPr lang="en-US" b="1" dirty="0">
                <a:latin typeface="ADLaM Display" panose="02010000000000000000" pitchFamily="2" charset="0"/>
                <a:ea typeface="ADLaM Display" panose="02010000000000000000" pitchFamily="2" charset="0"/>
                <a:cs typeface="ADLaM Display" panose="02010000000000000000" pitchFamily="2" charset="0"/>
              </a:rPr>
              <a:t>487 orders were not completed</a:t>
            </a:r>
            <a:r>
              <a:rPr lang="en-US" dirty="0">
                <a:latin typeface="ADLaM Display" panose="02010000000000000000" pitchFamily="2" charset="0"/>
                <a:ea typeface="ADLaM Display" panose="02010000000000000000" pitchFamily="2" charset="0"/>
                <a:cs typeface="ADLaM Display" panose="02010000000000000000" pitchFamily="2" charset="0"/>
              </a:rPr>
              <a:t>, including </a:t>
            </a:r>
            <a:r>
              <a:rPr lang="en-US" b="1" dirty="0">
                <a:latin typeface="ADLaM Display" panose="02010000000000000000" pitchFamily="2" charset="0"/>
                <a:ea typeface="ADLaM Display" panose="02010000000000000000" pitchFamily="2" charset="0"/>
                <a:cs typeface="ADLaM Display" panose="02010000000000000000" pitchFamily="2" charset="0"/>
              </a:rPr>
              <a:t>241 orders currently in a pending state</a:t>
            </a:r>
            <a:r>
              <a:rPr lang="en-US" dirty="0">
                <a:latin typeface="ADLaM Display" panose="02010000000000000000" pitchFamily="2" charset="0"/>
                <a:ea typeface="ADLaM Display" panose="02010000000000000000" pitchFamily="2" charset="0"/>
                <a:cs typeface="ADLaM Display" panose="02010000000000000000" pitchFamily="2" charset="0"/>
              </a:rPr>
              <a:t>, while the rest were </a:t>
            </a:r>
            <a:r>
              <a:rPr lang="en-US" b="1" dirty="0">
                <a:latin typeface="ADLaM Display" panose="02010000000000000000" pitchFamily="2" charset="0"/>
                <a:ea typeface="ADLaM Display" panose="02010000000000000000" pitchFamily="2" charset="0"/>
                <a:cs typeface="ADLaM Display" panose="02010000000000000000" pitchFamily="2" charset="0"/>
              </a:rPr>
              <a:t>cancelled.</a:t>
            </a:r>
            <a:endParaRPr lang="en-US" sz="2800"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5" name="TextBox 24">
            <a:extLst>
              <a:ext uri="{FF2B5EF4-FFF2-40B4-BE49-F238E27FC236}">
                <a16:creationId xmlns:a16="http://schemas.microsoft.com/office/drawing/2014/main" id="{78A3103D-CB79-19DE-3C2B-1254226843D4}"/>
              </a:ext>
            </a:extLst>
          </p:cNvPr>
          <p:cNvSpPr txBox="1"/>
          <p:nvPr/>
        </p:nvSpPr>
        <p:spPr>
          <a:xfrm>
            <a:off x="1509461" y="3765185"/>
            <a:ext cx="4762751" cy="369332"/>
          </a:xfrm>
          <a:prstGeom prst="rect">
            <a:avLst/>
          </a:prstGeom>
          <a:noFill/>
        </p:spPr>
        <p:txBody>
          <a:bodyPr wrap="square" rtlCol="0">
            <a:spAutoFit/>
          </a:bodyPr>
          <a:lstStyle/>
          <a:p>
            <a:pPr marL="285750" indent="-285750">
              <a:buFont typeface="Arial" panose="020B0604020202020204" pitchFamily="34" charset="0"/>
              <a:buChar char="•"/>
            </a:pPr>
            <a:r>
              <a:rPr lang="en-US" u="sng" dirty="0">
                <a:latin typeface="ADLaM Display" panose="02010000000000000000" pitchFamily="2" charset="0"/>
                <a:ea typeface="ADLaM Display" panose="02010000000000000000" pitchFamily="2" charset="0"/>
                <a:cs typeface="ADLaM Display" panose="02010000000000000000" pitchFamily="2" charset="0"/>
              </a:rPr>
              <a:t>Total order without completed order </a:t>
            </a:r>
          </a:p>
        </p:txBody>
      </p:sp>
      <p:pic>
        <p:nvPicPr>
          <p:cNvPr id="27" name="Picture 26">
            <a:extLst>
              <a:ext uri="{FF2B5EF4-FFF2-40B4-BE49-F238E27FC236}">
                <a16:creationId xmlns:a16="http://schemas.microsoft.com/office/drawing/2014/main" id="{35ED3297-B2CC-73CB-F50E-151BE1F2BA67}"/>
              </a:ext>
            </a:extLst>
          </p:cNvPr>
          <p:cNvPicPr>
            <a:picLocks noChangeAspect="1"/>
          </p:cNvPicPr>
          <p:nvPr/>
        </p:nvPicPr>
        <p:blipFill>
          <a:blip r:embed="rId6"/>
          <a:stretch>
            <a:fillRect/>
          </a:stretch>
        </p:blipFill>
        <p:spPr>
          <a:xfrm>
            <a:off x="1509461" y="4189971"/>
            <a:ext cx="6162926" cy="369332"/>
          </a:xfrm>
          <a:prstGeom prst="rect">
            <a:avLst/>
          </a:prstGeom>
        </p:spPr>
      </p:pic>
      <p:pic>
        <p:nvPicPr>
          <p:cNvPr id="29" name="Picture 28">
            <a:extLst>
              <a:ext uri="{FF2B5EF4-FFF2-40B4-BE49-F238E27FC236}">
                <a16:creationId xmlns:a16="http://schemas.microsoft.com/office/drawing/2014/main" id="{43645573-6994-B528-E513-C1A57D1F79F3}"/>
              </a:ext>
            </a:extLst>
          </p:cNvPr>
          <p:cNvPicPr>
            <a:picLocks noChangeAspect="1"/>
          </p:cNvPicPr>
          <p:nvPr/>
        </p:nvPicPr>
        <p:blipFill>
          <a:blip r:embed="rId7"/>
          <a:stretch>
            <a:fillRect/>
          </a:stretch>
        </p:blipFill>
        <p:spPr>
          <a:xfrm>
            <a:off x="8122702" y="4012031"/>
            <a:ext cx="1086002" cy="581106"/>
          </a:xfrm>
          <a:prstGeom prst="rect">
            <a:avLst/>
          </a:prstGeom>
        </p:spPr>
      </p:pic>
    </p:spTree>
    <p:extLst>
      <p:ext uri="{BB962C8B-B14F-4D97-AF65-F5344CB8AC3E}">
        <p14:creationId xmlns:p14="http://schemas.microsoft.com/office/powerpoint/2010/main" val="130115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1000"/>
                                        <p:tgtEl>
                                          <p:spTgt spid="23"/>
                                        </p:tgtEl>
                                      </p:cBhvr>
                                    </p:animEffect>
                                    <p:anim calcmode="lin" valueType="num">
                                      <p:cBhvr>
                                        <p:cTn id="41" dur="1000" fill="hold"/>
                                        <p:tgtEl>
                                          <p:spTgt spid="23"/>
                                        </p:tgtEl>
                                        <p:attrNameLst>
                                          <p:attrName>ppt_x</p:attrName>
                                        </p:attrNameLst>
                                      </p:cBhvr>
                                      <p:tavLst>
                                        <p:tav tm="0">
                                          <p:val>
                                            <p:strVal val="#ppt_x"/>
                                          </p:val>
                                        </p:tav>
                                        <p:tav tm="100000">
                                          <p:val>
                                            <p:strVal val="#ppt_x"/>
                                          </p:val>
                                        </p:tav>
                                      </p:tavLst>
                                    </p:anim>
                                    <p:anim calcmode="lin" valueType="num">
                                      <p:cBhvr>
                                        <p:cTn id="4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500" fill="hold"/>
                                        <p:tgtEl>
                                          <p:spTgt spid="25"/>
                                        </p:tgtEl>
                                        <p:attrNameLst>
                                          <p:attrName>ppt_x</p:attrName>
                                        </p:attrNameLst>
                                      </p:cBhvr>
                                      <p:tavLst>
                                        <p:tav tm="0">
                                          <p:val>
                                            <p:strVal val="#ppt_x"/>
                                          </p:val>
                                        </p:tav>
                                        <p:tav tm="100000">
                                          <p:val>
                                            <p:strVal val="#ppt_x"/>
                                          </p:val>
                                        </p:tav>
                                      </p:tavLst>
                                    </p:anim>
                                    <p:anim calcmode="lin" valueType="num">
                                      <p:cBhvr additive="base">
                                        <p:cTn id="5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down)">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down)">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1000"/>
                                        <p:tgtEl>
                                          <p:spTgt spid="24"/>
                                        </p:tgtEl>
                                      </p:cBhvr>
                                    </p:animEffect>
                                    <p:anim calcmode="lin" valueType="num">
                                      <p:cBhvr>
                                        <p:cTn id="69" dur="1000" fill="hold"/>
                                        <p:tgtEl>
                                          <p:spTgt spid="24"/>
                                        </p:tgtEl>
                                        <p:attrNameLst>
                                          <p:attrName>ppt_x</p:attrName>
                                        </p:attrNameLst>
                                      </p:cBhvr>
                                      <p:tavLst>
                                        <p:tav tm="0">
                                          <p:val>
                                            <p:strVal val="#ppt_x"/>
                                          </p:val>
                                        </p:tav>
                                        <p:tav tm="100000">
                                          <p:val>
                                            <p:strVal val="#ppt_x"/>
                                          </p:val>
                                        </p:tav>
                                      </p:tavLst>
                                    </p:anim>
                                    <p:anim calcmode="lin" valueType="num">
                                      <p:cBhvr>
                                        <p:cTn id="7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4" grpId="0"/>
      <p:bldP spid="18" grpId="0"/>
      <p:bldP spid="24" grpId="0" animBg="1"/>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C56CCB-74F0-3D99-8CA8-AC431D3D7737}"/>
              </a:ext>
            </a:extLst>
          </p:cNvPr>
          <p:cNvSpPr txBox="1"/>
          <p:nvPr/>
        </p:nvSpPr>
        <p:spPr>
          <a:xfrm>
            <a:off x="433138" y="386588"/>
            <a:ext cx="11268516" cy="338554"/>
          </a:xfrm>
          <a:prstGeom prst="rect">
            <a:avLst/>
          </a:prstGeom>
          <a:gradFill flip="none" rotWithShape="1">
            <a:gsLst>
              <a:gs pos="0">
                <a:schemeClr val="accent3">
                  <a:lumMod val="67000"/>
                </a:schemeClr>
              </a:gs>
              <a:gs pos="28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Number of unique customers have placed at least one order</a:t>
            </a:r>
          </a:p>
        </p:txBody>
      </p:sp>
      <p:pic>
        <p:nvPicPr>
          <p:cNvPr id="4" name="Picture 3">
            <a:extLst>
              <a:ext uri="{FF2B5EF4-FFF2-40B4-BE49-F238E27FC236}">
                <a16:creationId xmlns:a16="http://schemas.microsoft.com/office/drawing/2014/main" id="{292AB37F-BDF2-97F9-4D1D-0C9DBD75F271}"/>
              </a:ext>
            </a:extLst>
          </p:cNvPr>
          <p:cNvPicPr>
            <a:picLocks noChangeAspect="1"/>
          </p:cNvPicPr>
          <p:nvPr/>
        </p:nvPicPr>
        <p:blipFill>
          <a:blip r:embed="rId2"/>
          <a:stretch>
            <a:fillRect/>
          </a:stretch>
        </p:blipFill>
        <p:spPr>
          <a:xfrm>
            <a:off x="433137" y="1233834"/>
            <a:ext cx="8495565" cy="372613"/>
          </a:xfrm>
          <a:prstGeom prst="rect">
            <a:avLst/>
          </a:prstGeom>
        </p:spPr>
      </p:pic>
      <p:sp>
        <p:nvSpPr>
          <p:cNvPr id="6" name="TextBox 5">
            <a:extLst>
              <a:ext uri="{FF2B5EF4-FFF2-40B4-BE49-F238E27FC236}">
                <a16:creationId xmlns:a16="http://schemas.microsoft.com/office/drawing/2014/main" id="{FB007BCC-3991-E2AD-6899-C425A84EB185}"/>
              </a:ext>
            </a:extLst>
          </p:cNvPr>
          <p:cNvSpPr txBox="1"/>
          <p:nvPr/>
        </p:nvSpPr>
        <p:spPr>
          <a:xfrm>
            <a:off x="9298782" y="861094"/>
            <a:ext cx="2893218"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8" name="Picture 7">
            <a:extLst>
              <a:ext uri="{FF2B5EF4-FFF2-40B4-BE49-F238E27FC236}">
                <a16:creationId xmlns:a16="http://schemas.microsoft.com/office/drawing/2014/main" id="{8ABDC5F1-B3DE-BF2A-816F-BC04A3D1B0DF}"/>
              </a:ext>
            </a:extLst>
          </p:cNvPr>
          <p:cNvPicPr>
            <a:picLocks noChangeAspect="1"/>
          </p:cNvPicPr>
          <p:nvPr/>
        </p:nvPicPr>
        <p:blipFill>
          <a:blip r:embed="rId3"/>
          <a:stretch>
            <a:fillRect/>
          </a:stretch>
        </p:blipFill>
        <p:spPr>
          <a:xfrm>
            <a:off x="10044072" y="1284431"/>
            <a:ext cx="1657581" cy="571580"/>
          </a:xfrm>
          <a:prstGeom prst="rect">
            <a:avLst/>
          </a:prstGeom>
        </p:spPr>
      </p:pic>
      <p:sp>
        <p:nvSpPr>
          <p:cNvPr id="9" name="TextBox 8">
            <a:extLst>
              <a:ext uri="{FF2B5EF4-FFF2-40B4-BE49-F238E27FC236}">
                <a16:creationId xmlns:a16="http://schemas.microsoft.com/office/drawing/2014/main" id="{8C00FA99-9C78-4A3B-7CB2-DE387201AD1B}"/>
              </a:ext>
            </a:extLst>
          </p:cNvPr>
          <p:cNvSpPr txBox="1"/>
          <p:nvPr/>
        </p:nvSpPr>
        <p:spPr>
          <a:xfrm>
            <a:off x="433137" y="2080954"/>
            <a:ext cx="11268516" cy="646331"/>
          </a:xfrm>
          <a:prstGeom prst="rect">
            <a:avLst/>
          </a:prstGeom>
          <a:noFill/>
          <a:ln w="47625">
            <a:solidFill>
              <a:srgbClr val="F1741F"/>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r>
              <a:rPr lang="en-US" dirty="0">
                <a:latin typeface="ADLaM Display" panose="02010000000000000000" pitchFamily="2" charset="0"/>
                <a:ea typeface="ADLaM Display" panose="02010000000000000000" pitchFamily="2" charset="0"/>
                <a:cs typeface="ADLaM Display" panose="02010000000000000000" pitchFamily="2" charset="0"/>
              </a:rPr>
              <a:t>There are 100 unique customer who ordered from the </a:t>
            </a:r>
            <a:r>
              <a:rPr lang="en-US" dirty="0" err="1">
                <a:latin typeface="ADLaM Display" panose="02010000000000000000" pitchFamily="2" charset="0"/>
                <a:ea typeface="ADLaM Display" panose="02010000000000000000" pitchFamily="2" charset="0"/>
                <a:cs typeface="ADLaM Display" panose="02010000000000000000" pitchFamily="2" charset="0"/>
              </a:rPr>
              <a:t>UrbanCard</a:t>
            </a:r>
            <a:r>
              <a:rPr lang="en-US" dirty="0">
                <a:latin typeface="ADLaM Display" panose="02010000000000000000" pitchFamily="2" charset="0"/>
                <a:ea typeface="ADLaM Display" panose="02010000000000000000" pitchFamily="2" charset="0"/>
                <a:cs typeface="ADLaM Display" panose="02010000000000000000" pitchFamily="2" charset="0"/>
              </a:rPr>
              <a:t> during the time.</a:t>
            </a:r>
          </a:p>
        </p:txBody>
      </p:sp>
      <p:pic>
        <p:nvPicPr>
          <p:cNvPr id="11" name="Picture 10">
            <a:extLst>
              <a:ext uri="{FF2B5EF4-FFF2-40B4-BE49-F238E27FC236}">
                <a16:creationId xmlns:a16="http://schemas.microsoft.com/office/drawing/2014/main" id="{F2D871C2-5D3F-1DC2-D8D4-E8A2269698F9}"/>
              </a:ext>
            </a:extLst>
          </p:cNvPr>
          <p:cNvPicPr>
            <a:picLocks noChangeAspect="1"/>
          </p:cNvPicPr>
          <p:nvPr/>
        </p:nvPicPr>
        <p:blipFill>
          <a:blip r:embed="rId4"/>
          <a:stretch>
            <a:fillRect/>
          </a:stretch>
        </p:blipFill>
        <p:spPr>
          <a:xfrm>
            <a:off x="490347" y="3733125"/>
            <a:ext cx="8239316" cy="1059195"/>
          </a:xfrm>
          <a:prstGeom prst="rect">
            <a:avLst/>
          </a:prstGeom>
        </p:spPr>
      </p:pic>
      <p:sp>
        <p:nvSpPr>
          <p:cNvPr id="12" name="TextBox 11">
            <a:extLst>
              <a:ext uri="{FF2B5EF4-FFF2-40B4-BE49-F238E27FC236}">
                <a16:creationId xmlns:a16="http://schemas.microsoft.com/office/drawing/2014/main" id="{36046DEE-D71D-D364-8901-4A6B55722458}"/>
              </a:ext>
            </a:extLst>
          </p:cNvPr>
          <p:cNvSpPr txBox="1"/>
          <p:nvPr/>
        </p:nvSpPr>
        <p:spPr>
          <a:xfrm>
            <a:off x="433138" y="3055868"/>
            <a:ext cx="11268516" cy="341533"/>
          </a:xfrm>
          <a:prstGeom prst="rect">
            <a:avLst/>
          </a:prstGeom>
          <a:gradFill flip="none" rotWithShape="1">
            <a:gsLst>
              <a:gs pos="0">
                <a:schemeClr val="accent3">
                  <a:lumMod val="67000"/>
                </a:schemeClr>
              </a:gs>
              <a:gs pos="23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cities which generate the highest number of orders</a:t>
            </a:r>
          </a:p>
        </p:txBody>
      </p:sp>
      <p:pic>
        <p:nvPicPr>
          <p:cNvPr id="14" name="Picture 13">
            <a:extLst>
              <a:ext uri="{FF2B5EF4-FFF2-40B4-BE49-F238E27FC236}">
                <a16:creationId xmlns:a16="http://schemas.microsoft.com/office/drawing/2014/main" id="{6EABCA3D-B948-B101-D996-95932D3F789C}"/>
              </a:ext>
            </a:extLst>
          </p:cNvPr>
          <p:cNvPicPr>
            <a:picLocks noChangeAspect="1"/>
          </p:cNvPicPr>
          <p:nvPr/>
        </p:nvPicPr>
        <p:blipFill>
          <a:blip r:embed="rId5"/>
          <a:stretch>
            <a:fillRect/>
          </a:stretch>
        </p:blipFill>
        <p:spPr>
          <a:xfrm>
            <a:off x="8977123" y="3927142"/>
            <a:ext cx="2724530" cy="2734000"/>
          </a:xfrm>
          <a:prstGeom prst="rect">
            <a:avLst/>
          </a:prstGeom>
        </p:spPr>
      </p:pic>
      <p:sp>
        <p:nvSpPr>
          <p:cNvPr id="15" name="TextBox 14">
            <a:extLst>
              <a:ext uri="{FF2B5EF4-FFF2-40B4-BE49-F238E27FC236}">
                <a16:creationId xmlns:a16="http://schemas.microsoft.com/office/drawing/2014/main" id="{0B1D073D-E19E-BD36-E89D-CCBA231AE259}"/>
              </a:ext>
            </a:extLst>
          </p:cNvPr>
          <p:cNvSpPr txBox="1"/>
          <p:nvPr/>
        </p:nvSpPr>
        <p:spPr>
          <a:xfrm>
            <a:off x="9324744" y="3541017"/>
            <a:ext cx="2893218"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TextBox 15">
            <a:extLst>
              <a:ext uri="{FF2B5EF4-FFF2-40B4-BE49-F238E27FC236}">
                <a16:creationId xmlns:a16="http://schemas.microsoft.com/office/drawing/2014/main" id="{310B1D6F-384A-76AD-3DEE-9B367F1C0526}"/>
              </a:ext>
            </a:extLst>
          </p:cNvPr>
          <p:cNvSpPr txBox="1"/>
          <p:nvPr/>
        </p:nvSpPr>
        <p:spPr>
          <a:xfrm>
            <a:off x="490347" y="5128044"/>
            <a:ext cx="8239316" cy="1477328"/>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Out of the 1,200 total orders, </a:t>
            </a:r>
            <a:r>
              <a:rPr lang="en-US" dirty="0" err="1">
                <a:latin typeface="ADLaM Display" panose="02010000000000000000" pitchFamily="2" charset="0"/>
                <a:ea typeface="ADLaM Display" panose="02010000000000000000" pitchFamily="2" charset="0"/>
                <a:cs typeface="ADLaM Display" panose="02010000000000000000" pitchFamily="2" charset="0"/>
              </a:rPr>
              <a:t>Barishal</a:t>
            </a:r>
            <a:r>
              <a:rPr lang="en-US" dirty="0">
                <a:latin typeface="ADLaM Display" panose="02010000000000000000" pitchFamily="2" charset="0"/>
                <a:ea typeface="ADLaM Display" panose="02010000000000000000" pitchFamily="2" charset="0"/>
                <a:cs typeface="ADLaM Display" panose="02010000000000000000" pitchFamily="2" charset="0"/>
              </a:rPr>
              <a:t> generated the highest number of orders (173), followed by Sylhet (148) and Chattogram (140). The remaining orders were distributed across other cities, as shown in the accompanying output.</a:t>
            </a:r>
          </a:p>
        </p:txBody>
      </p:sp>
    </p:spTree>
    <p:extLst>
      <p:ext uri="{BB962C8B-B14F-4D97-AF65-F5344CB8AC3E}">
        <p14:creationId xmlns:p14="http://schemas.microsoft.com/office/powerpoint/2010/main" val="286486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barn(inVertical)">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5">
                                            <p:txEl>
                                              <p:pRg st="0" end="0"/>
                                            </p:txEl>
                                          </p:spTgt>
                                        </p:tgtEl>
                                        <p:attrNameLst>
                                          <p:attrName>style.visibility</p:attrName>
                                        </p:attrNameLst>
                                      </p:cBhvr>
                                      <p:to>
                                        <p:strVal val="visible"/>
                                      </p:to>
                                    </p:set>
                                    <p:animEffect transition="in" filter="fade">
                                      <p:cBhvr>
                                        <p:cTn id="55" dur="1000"/>
                                        <p:tgtEl>
                                          <p:spTgt spid="15">
                                            <p:txEl>
                                              <p:pRg st="0" end="0"/>
                                            </p:txEl>
                                          </p:spTgt>
                                        </p:tgtEl>
                                      </p:cBhvr>
                                    </p:animEffect>
                                    <p:anim calcmode="lin" valueType="num">
                                      <p:cBhvr>
                                        <p:cTn id="56"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down)">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1000" fill="hold"/>
                                        <p:tgtEl>
                                          <p:spTgt spid="16"/>
                                        </p:tgtEl>
                                        <p:attrNameLst>
                                          <p:attrName>ppt_w</p:attrName>
                                        </p:attrNameLst>
                                      </p:cBhvr>
                                      <p:tavLst>
                                        <p:tav tm="0">
                                          <p:val>
                                            <p:fltVal val="0"/>
                                          </p:val>
                                        </p:tav>
                                        <p:tav tm="100000">
                                          <p:val>
                                            <p:strVal val="#ppt_w"/>
                                          </p:val>
                                        </p:tav>
                                      </p:tavLst>
                                    </p:anim>
                                    <p:anim calcmode="lin" valueType="num">
                                      <p:cBhvr>
                                        <p:cTn id="68" dur="1000" fill="hold"/>
                                        <p:tgtEl>
                                          <p:spTgt spid="16"/>
                                        </p:tgtEl>
                                        <p:attrNameLst>
                                          <p:attrName>ppt_h</p:attrName>
                                        </p:attrNameLst>
                                      </p:cBhvr>
                                      <p:tavLst>
                                        <p:tav tm="0">
                                          <p:val>
                                            <p:fltVal val="0"/>
                                          </p:val>
                                        </p:tav>
                                        <p:tav tm="100000">
                                          <p:val>
                                            <p:strVal val="#ppt_h"/>
                                          </p:val>
                                        </p:tav>
                                      </p:tavLst>
                                    </p:anim>
                                    <p:anim calcmode="lin" valueType="num">
                                      <p:cBhvr>
                                        <p:cTn id="69" dur="1000" fill="hold"/>
                                        <p:tgtEl>
                                          <p:spTgt spid="16"/>
                                        </p:tgtEl>
                                        <p:attrNameLst>
                                          <p:attrName>style.rotation</p:attrName>
                                        </p:attrNameLst>
                                      </p:cBhvr>
                                      <p:tavLst>
                                        <p:tav tm="0">
                                          <p:val>
                                            <p:fltVal val="90"/>
                                          </p:val>
                                        </p:tav>
                                        <p:tav tm="100000">
                                          <p:val>
                                            <p:fltVal val="0"/>
                                          </p:val>
                                        </p:tav>
                                      </p:tavLst>
                                    </p:anim>
                                    <p:animEffect transition="in" filter="fade">
                                      <p:cBhvr>
                                        <p:cTn id="7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9" grpId="0" animBg="1"/>
      <p:bldP spid="12" grpId="0" animBg="1"/>
      <p:bldP spid="15" grpId="0"/>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4D69F-FCD2-61B4-3F11-116DE225B9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D165AC-5F4C-5530-E53A-8399FCEF1C7D}"/>
              </a:ext>
            </a:extLst>
          </p:cNvPr>
          <p:cNvSpPr txBox="1"/>
          <p:nvPr/>
        </p:nvSpPr>
        <p:spPr>
          <a:xfrm>
            <a:off x="737938" y="378274"/>
            <a:ext cx="10963716" cy="338554"/>
          </a:xfrm>
          <a:prstGeom prst="rect">
            <a:avLst/>
          </a:prstGeom>
          <a:gradFill flip="none" rotWithShape="1">
            <a:gsLst>
              <a:gs pos="0">
                <a:schemeClr val="accent3">
                  <a:lumMod val="67000"/>
                </a:schemeClr>
              </a:gs>
              <a:gs pos="28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percentage of customers have placed more than one order</a:t>
            </a:r>
          </a:p>
        </p:txBody>
      </p:sp>
      <p:sp>
        <p:nvSpPr>
          <p:cNvPr id="6" name="TextBox 5">
            <a:extLst>
              <a:ext uri="{FF2B5EF4-FFF2-40B4-BE49-F238E27FC236}">
                <a16:creationId xmlns:a16="http://schemas.microsoft.com/office/drawing/2014/main" id="{F0F3FDBB-86F6-3A6F-DE22-A3BDD4B74E99}"/>
              </a:ext>
            </a:extLst>
          </p:cNvPr>
          <p:cNvSpPr txBox="1"/>
          <p:nvPr/>
        </p:nvSpPr>
        <p:spPr>
          <a:xfrm>
            <a:off x="9373738" y="1099171"/>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TextBox 8">
            <a:extLst>
              <a:ext uri="{FF2B5EF4-FFF2-40B4-BE49-F238E27FC236}">
                <a16:creationId xmlns:a16="http://schemas.microsoft.com/office/drawing/2014/main" id="{9C63A120-EA18-4036-1C60-A82A803519C6}"/>
              </a:ext>
            </a:extLst>
          </p:cNvPr>
          <p:cNvSpPr txBox="1"/>
          <p:nvPr/>
        </p:nvSpPr>
        <p:spPr>
          <a:xfrm>
            <a:off x="737938" y="1906017"/>
            <a:ext cx="10963714" cy="923330"/>
          </a:xfrm>
          <a:prstGeom prst="rect">
            <a:avLst/>
          </a:prstGeom>
          <a:noFill/>
          <a:ln w="47625">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r>
              <a:rPr lang="en-US" dirty="0">
                <a:latin typeface="ADLaM Display" panose="02010000000000000000" pitchFamily="2" charset="0"/>
                <a:ea typeface="ADLaM Display" panose="02010000000000000000" pitchFamily="2" charset="0"/>
                <a:cs typeface="ADLaM Display" panose="02010000000000000000" pitchFamily="2" charset="0"/>
              </a:rPr>
              <a:t>The analysis shows that 100% of customers have placed multiple orders, indicating a fully repeat-customer base.</a:t>
            </a:r>
          </a:p>
        </p:txBody>
      </p:sp>
      <p:sp>
        <p:nvSpPr>
          <p:cNvPr id="12" name="TextBox 11">
            <a:extLst>
              <a:ext uri="{FF2B5EF4-FFF2-40B4-BE49-F238E27FC236}">
                <a16:creationId xmlns:a16="http://schemas.microsoft.com/office/drawing/2014/main" id="{6AAC6E6C-7587-7459-3608-0B4A4CC72278}"/>
              </a:ext>
            </a:extLst>
          </p:cNvPr>
          <p:cNvSpPr txBox="1"/>
          <p:nvPr/>
        </p:nvSpPr>
        <p:spPr>
          <a:xfrm>
            <a:off x="737938" y="3113303"/>
            <a:ext cx="10963715" cy="348720"/>
          </a:xfrm>
          <a:prstGeom prst="rect">
            <a:avLst/>
          </a:prstGeom>
          <a:gradFill flip="none" rotWithShape="1">
            <a:gsLst>
              <a:gs pos="0">
                <a:schemeClr val="accent3">
                  <a:lumMod val="67000"/>
                </a:schemeClr>
              </a:gs>
              <a:gs pos="23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 Monthly trend of total orders over time</a:t>
            </a:r>
          </a:p>
        </p:txBody>
      </p:sp>
      <p:sp>
        <p:nvSpPr>
          <p:cNvPr id="16" name="TextBox 15">
            <a:extLst>
              <a:ext uri="{FF2B5EF4-FFF2-40B4-BE49-F238E27FC236}">
                <a16:creationId xmlns:a16="http://schemas.microsoft.com/office/drawing/2014/main" id="{251839BD-C424-309C-E9AD-989B4A13FED9}"/>
              </a:ext>
            </a:extLst>
          </p:cNvPr>
          <p:cNvSpPr txBox="1"/>
          <p:nvPr/>
        </p:nvSpPr>
        <p:spPr>
          <a:xfrm>
            <a:off x="737938" y="5279396"/>
            <a:ext cx="7096547" cy="1200329"/>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r>
              <a:rPr lang="en-US" dirty="0">
                <a:latin typeface="ADLaM Display" panose="02010000000000000000" pitchFamily="2" charset="0"/>
                <a:ea typeface="ADLaM Display" panose="02010000000000000000" pitchFamily="2" charset="0"/>
                <a:cs typeface="ADLaM Display" panose="02010000000000000000" pitchFamily="2" charset="0"/>
              </a:rPr>
              <a:t>The chart shows that order volume peaked in October, declined slightly in November, and dropped further in December.</a:t>
            </a:r>
          </a:p>
        </p:txBody>
      </p:sp>
      <p:pic>
        <p:nvPicPr>
          <p:cNvPr id="5" name="Picture 4">
            <a:extLst>
              <a:ext uri="{FF2B5EF4-FFF2-40B4-BE49-F238E27FC236}">
                <a16:creationId xmlns:a16="http://schemas.microsoft.com/office/drawing/2014/main" id="{192E2A23-E31A-939D-DA92-A7D5B82954D4}"/>
              </a:ext>
            </a:extLst>
          </p:cNvPr>
          <p:cNvPicPr>
            <a:picLocks noChangeAspect="1"/>
          </p:cNvPicPr>
          <p:nvPr/>
        </p:nvPicPr>
        <p:blipFill>
          <a:blip r:embed="rId2"/>
          <a:stretch>
            <a:fillRect/>
          </a:stretch>
        </p:blipFill>
        <p:spPr>
          <a:xfrm>
            <a:off x="737938" y="972208"/>
            <a:ext cx="8635800" cy="714475"/>
          </a:xfrm>
          <a:prstGeom prst="rect">
            <a:avLst/>
          </a:prstGeom>
        </p:spPr>
      </p:pic>
      <p:pic>
        <p:nvPicPr>
          <p:cNvPr id="10" name="Picture 9">
            <a:extLst>
              <a:ext uri="{FF2B5EF4-FFF2-40B4-BE49-F238E27FC236}">
                <a16:creationId xmlns:a16="http://schemas.microsoft.com/office/drawing/2014/main" id="{80A8FF49-E8EF-3E33-1DC1-32571A02469A}"/>
              </a:ext>
            </a:extLst>
          </p:cNvPr>
          <p:cNvPicPr>
            <a:picLocks noChangeAspect="1"/>
          </p:cNvPicPr>
          <p:nvPr/>
        </p:nvPicPr>
        <p:blipFill>
          <a:blip r:embed="rId3"/>
          <a:stretch>
            <a:fillRect/>
          </a:stretch>
        </p:blipFill>
        <p:spPr>
          <a:xfrm>
            <a:off x="10425125" y="972208"/>
            <a:ext cx="1276528" cy="714475"/>
          </a:xfrm>
          <a:prstGeom prst="rect">
            <a:avLst/>
          </a:prstGeom>
        </p:spPr>
      </p:pic>
      <p:pic>
        <p:nvPicPr>
          <p:cNvPr id="17" name="Picture 16">
            <a:extLst>
              <a:ext uri="{FF2B5EF4-FFF2-40B4-BE49-F238E27FC236}">
                <a16:creationId xmlns:a16="http://schemas.microsoft.com/office/drawing/2014/main" id="{714B579B-EEDE-EE3F-2953-82E778C79F06}"/>
              </a:ext>
            </a:extLst>
          </p:cNvPr>
          <p:cNvPicPr>
            <a:picLocks noChangeAspect="1"/>
          </p:cNvPicPr>
          <p:nvPr/>
        </p:nvPicPr>
        <p:blipFill>
          <a:blip r:embed="rId4"/>
          <a:stretch>
            <a:fillRect/>
          </a:stretch>
        </p:blipFill>
        <p:spPr>
          <a:xfrm>
            <a:off x="737938" y="3704162"/>
            <a:ext cx="7096547" cy="1055237"/>
          </a:xfrm>
          <a:prstGeom prst="rect">
            <a:avLst/>
          </a:prstGeom>
        </p:spPr>
      </p:pic>
      <p:graphicFrame>
        <p:nvGraphicFramePr>
          <p:cNvPr id="20" name="Chart 19">
            <a:extLst>
              <a:ext uri="{FF2B5EF4-FFF2-40B4-BE49-F238E27FC236}">
                <a16:creationId xmlns:a16="http://schemas.microsoft.com/office/drawing/2014/main" id="{59A86937-17DD-012C-E2BB-4FE4A581BAA3}"/>
              </a:ext>
            </a:extLst>
          </p:cNvPr>
          <p:cNvGraphicFramePr>
            <a:graphicFrameLocks/>
          </p:cNvGraphicFramePr>
          <p:nvPr>
            <p:extLst>
              <p:ext uri="{D42A27DB-BD31-4B8C-83A1-F6EECF244321}">
                <p14:modId xmlns:p14="http://schemas.microsoft.com/office/powerpoint/2010/main" val="3248681550"/>
              </p:ext>
            </p:extLst>
          </p:nvPr>
        </p:nvGraphicFramePr>
        <p:xfrm>
          <a:off x="7834485" y="3664703"/>
          <a:ext cx="3867167" cy="281502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0719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80">
                                          <p:stCondLst>
                                            <p:cond delay="0"/>
                                          </p:stCondLst>
                                        </p:cTn>
                                        <p:tgtEl>
                                          <p:spTgt spid="5"/>
                                        </p:tgtEl>
                                      </p:cBhvr>
                                    </p:animEffect>
                                    <p:anim calcmode="lin" valueType="num">
                                      <p:cBhvr>
                                        <p:cTn id="1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0" dur="26">
                                          <p:stCondLst>
                                            <p:cond delay="650"/>
                                          </p:stCondLst>
                                        </p:cTn>
                                        <p:tgtEl>
                                          <p:spTgt spid="5"/>
                                        </p:tgtEl>
                                      </p:cBhvr>
                                      <p:to x="100000" y="60000"/>
                                    </p:animScale>
                                    <p:animScale>
                                      <p:cBhvr>
                                        <p:cTn id="21" dur="166" decel="50000">
                                          <p:stCondLst>
                                            <p:cond delay="676"/>
                                          </p:stCondLst>
                                        </p:cTn>
                                        <p:tgtEl>
                                          <p:spTgt spid="5"/>
                                        </p:tgtEl>
                                      </p:cBhvr>
                                      <p:to x="100000" y="100000"/>
                                    </p:animScale>
                                    <p:animScale>
                                      <p:cBhvr>
                                        <p:cTn id="22" dur="26">
                                          <p:stCondLst>
                                            <p:cond delay="1312"/>
                                          </p:stCondLst>
                                        </p:cTn>
                                        <p:tgtEl>
                                          <p:spTgt spid="5"/>
                                        </p:tgtEl>
                                      </p:cBhvr>
                                      <p:to x="100000" y="80000"/>
                                    </p:animScale>
                                    <p:animScale>
                                      <p:cBhvr>
                                        <p:cTn id="23" dur="166" decel="50000">
                                          <p:stCondLst>
                                            <p:cond delay="1338"/>
                                          </p:stCondLst>
                                        </p:cTn>
                                        <p:tgtEl>
                                          <p:spTgt spid="5"/>
                                        </p:tgtEl>
                                      </p:cBhvr>
                                      <p:to x="100000" y="100000"/>
                                    </p:animScale>
                                    <p:animScale>
                                      <p:cBhvr>
                                        <p:cTn id="24" dur="26">
                                          <p:stCondLst>
                                            <p:cond delay="1642"/>
                                          </p:stCondLst>
                                        </p:cTn>
                                        <p:tgtEl>
                                          <p:spTgt spid="5"/>
                                        </p:tgtEl>
                                      </p:cBhvr>
                                      <p:to x="100000" y="90000"/>
                                    </p:animScale>
                                    <p:animScale>
                                      <p:cBhvr>
                                        <p:cTn id="25" dur="166" decel="50000">
                                          <p:stCondLst>
                                            <p:cond delay="1668"/>
                                          </p:stCondLst>
                                        </p:cTn>
                                        <p:tgtEl>
                                          <p:spTgt spid="5"/>
                                        </p:tgtEl>
                                      </p:cBhvr>
                                      <p:to x="100000" y="100000"/>
                                    </p:animScale>
                                    <p:animScale>
                                      <p:cBhvr>
                                        <p:cTn id="26" dur="26">
                                          <p:stCondLst>
                                            <p:cond delay="1808"/>
                                          </p:stCondLst>
                                        </p:cTn>
                                        <p:tgtEl>
                                          <p:spTgt spid="5"/>
                                        </p:tgtEl>
                                      </p:cBhvr>
                                      <p:to x="100000" y="95000"/>
                                    </p:animScale>
                                    <p:animScale>
                                      <p:cBhvr>
                                        <p:cTn id="27" dur="166" decel="50000">
                                          <p:stCondLst>
                                            <p:cond delay="1834"/>
                                          </p:stCondLst>
                                        </p:cTn>
                                        <p:tgtEl>
                                          <p:spTgt spid="5"/>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down)">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9" grpId="0" animBg="1"/>
      <p:bldP spid="12" grpId="0" animBg="1"/>
      <p:bldP spid="16" grpId="0" animBg="1"/>
      <p:bldGraphic spid="2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01E9F-2882-964E-80B2-BD2D518893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90FAEF-6586-233A-588D-FCFBC26BD7F4}"/>
              </a:ext>
            </a:extLst>
          </p:cNvPr>
          <p:cNvSpPr txBox="1"/>
          <p:nvPr/>
        </p:nvSpPr>
        <p:spPr>
          <a:xfrm>
            <a:off x="737938" y="378274"/>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total revenue generated by </a:t>
            </a:r>
            <a:r>
              <a:rPr lang="en-US" sz="1600" dirty="0" err="1"/>
              <a:t>UrbanCart</a:t>
            </a:r>
            <a:endParaRPr lang="en-US" sz="1600" dirty="0"/>
          </a:p>
        </p:txBody>
      </p:sp>
      <p:sp>
        <p:nvSpPr>
          <p:cNvPr id="6" name="TextBox 5">
            <a:extLst>
              <a:ext uri="{FF2B5EF4-FFF2-40B4-BE49-F238E27FC236}">
                <a16:creationId xmlns:a16="http://schemas.microsoft.com/office/drawing/2014/main" id="{9B14FFD6-A57F-DB7E-BB65-780B408A9221}"/>
              </a:ext>
            </a:extLst>
          </p:cNvPr>
          <p:cNvSpPr txBox="1"/>
          <p:nvPr/>
        </p:nvSpPr>
        <p:spPr>
          <a:xfrm>
            <a:off x="10159802" y="992042"/>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TextBox 15">
            <a:extLst>
              <a:ext uri="{FF2B5EF4-FFF2-40B4-BE49-F238E27FC236}">
                <a16:creationId xmlns:a16="http://schemas.microsoft.com/office/drawing/2014/main" id="{1C7F4871-2F76-23CF-228F-E0D94AAB4F48}"/>
              </a:ext>
            </a:extLst>
          </p:cNvPr>
          <p:cNvSpPr txBox="1"/>
          <p:nvPr/>
        </p:nvSpPr>
        <p:spPr>
          <a:xfrm>
            <a:off x="737938" y="3348031"/>
            <a:ext cx="11117178" cy="646331"/>
          </a:xfrm>
          <a:prstGeom prst="rect">
            <a:avLst/>
          </a:prstGeom>
          <a:noFill/>
          <a:ln w="44450">
            <a:solidFill>
              <a:schemeClr val="accent1"/>
            </a:solidFill>
          </a:ln>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Comments: </a:t>
            </a:r>
            <a:r>
              <a:rPr lang="en-US" dirty="0">
                <a:latin typeface="ADLaM Display" panose="02010000000000000000" pitchFamily="2" charset="0"/>
                <a:ea typeface="ADLaM Display" panose="02010000000000000000" pitchFamily="2" charset="0"/>
                <a:cs typeface="ADLaM Display" panose="02010000000000000000" pitchFamily="2" charset="0"/>
              </a:rPr>
              <a:t>The total revenue from the </a:t>
            </a:r>
            <a:r>
              <a:rPr lang="en-US" dirty="0" err="1">
                <a:latin typeface="ADLaM Display" panose="02010000000000000000" pitchFamily="2" charset="0"/>
                <a:ea typeface="ADLaM Display" panose="02010000000000000000" pitchFamily="2" charset="0"/>
                <a:cs typeface="ADLaM Display" panose="02010000000000000000" pitchFamily="2" charset="0"/>
              </a:rPr>
              <a:t>UrbanCart</a:t>
            </a:r>
            <a:r>
              <a:rPr lang="en-US" dirty="0">
                <a:latin typeface="ADLaM Display" panose="02010000000000000000" pitchFamily="2" charset="0"/>
                <a:ea typeface="ADLaM Display" panose="02010000000000000000" pitchFamily="2" charset="0"/>
                <a:cs typeface="ADLaM Display" panose="02010000000000000000" pitchFamily="2" charset="0"/>
              </a:rPr>
              <a:t> is 13,53,914 Taka. Here only the completed order were taken into count.</a:t>
            </a:r>
          </a:p>
        </p:txBody>
      </p:sp>
      <p:pic>
        <p:nvPicPr>
          <p:cNvPr id="4" name="Picture 3">
            <a:extLst>
              <a:ext uri="{FF2B5EF4-FFF2-40B4-BE49-F238E27FC236}">
                <a16:creationId xmlns:a16="http://schemas.microsoft.com/office/drawing/2014/main" id="{A28E19CB-A00E-3AA3-31B0-BCFF069830E7}"/>
              </a:ext>
            </a:extLst>
          </p:cNvPr>
          <p:cNvPicPr>
            <a:picLocks noChangeAspect="1"/>
          </p:cNvPicPr>
          <p:nvPr/>
        </p:nvPicPr>
        <p:blipFill>
          <a:blip r:embed="rId2"/>
          <a:stretch>
            <a:fillRect/>
          </a:stretch>
        </p:blipFill>
        <p:spPr>
          <a:xfrm>
            <a:off x="737938" y="992042"/>
            <a:ext cx="8662736" cy="2184295"/>
          </a:xfrm>
          <a:prstGeom prst="rect">
            <a:avLst/>
          </a:prstGeom>
        </p:spPr>
      </p:pic>
      <p:pic>
        <p:nvPicPr>
          <p:cNvPr id="8" name="Picture 7">
            <a:extLst>
              <a:ext uri="{FF2B5EF4-FFF2-40B4-BE49-F238E27FC236}">
                <a16:creationId xmlns:a16="http://schemas.microsoft.com/office/drawing/2014/main" id="{FC748900-E6E3-84ED-4B9D-74FF8AFAFF52}"/>
              </a:ext>
            </a:extLst>
          </p:cNvPr>
          <p:cNvPicPr>
            <a:picLocks noChangeAspect="1"/>
          </p:cNvPicPr>
          <p:nvPr/>
        </p:nvPicPr>
        <p:blipFill>
          <a:blip r:embed="rId3"/>
          <a:stretch>
            <a:fillRect/>
          </a:stretch>
        </p:blipFill>
        <p:spPr>
          <a:xfrm>
            <a:off x="9769642" y="1421532"/>
            <a:ext cx="1932013" cy="1032910"/>
          </a:xfrm>
          <a:prstGeom prst="rect">
            <a:avLst/>
          </a:prstGeom>
        </p:spPr>
      </p:pic>
      <p:pic>
        <p:nvPicPr>
          <p:cNvPr id="13" name="Picture 12">
            <a:extLst>
              <a:ext uri="{FF2B5EF4-FFF2-40B4-BE49-F238E27FC236}">
                <a16:creationId xmlns:a16="http://schemas.microsoft.com/office/drawing/2014/main" id="{EC49512F-3802-B765-F1CF-F417753AF075}"/>
              </a:ext>
            </a:extLst>
          </p:cNvPr>
          <p:cNvPicPr>
            <a:picLocks noChangeAspect="1"/>
          </p:cNvPicPr>
          <p:nvPr/>
        </p:nvPicPr>
        <p:blipFill>
          <a:blip r:embed="rId4"/>
          <a:stretch>
            <a:fillRect/>
          </a:stretch>
        </p:blipFill>
        <p:spPr>
          <a:xfrm>
            <a:off x="737938" y="4203546"/>
            <a:ext cx="8662736" cy="1752845"/>
          </a:xfrm>
          <a:prstGeom prst="rect">
            <a:avLst/>
          </a:prstGeom>
        </p:spPr>
      </p:pic>
      <p:pic>
        <p:nvPicPr>
          <p:cNvPr id="15" name="Picture 14">
            <a:extLst>
              <a:ext uri="{FF2B5EF4-FFF2-40B4-BE49-F238E27FC236}">
                <a16:creationId xmlns:a16="http://schemas.microsoft.com/office/drawing/2014/main" id="{AF5B0B2C-241C-BA12-DAA1-99B927BAEE20}"/>
              </a:ext>
            </a:extLst>
          </p:cNvPr>
          <p:cNvPicPr>
            <a:picLocks noChangeAspect="1"/>
          </p:cNvPicPr>
          <p:nvPr/>
        </p:nvPicPr>
        <p:blipFill>
          <a:blip r:embed="rId5"/>
          <a:stretch>
            <a:fillRect/>
          </a:stretch>
        </p:blipFill>
        <p:spPr>
          <a:xfrm>
            <a:off x="9769642" y="4707086"/>
            <a:ext cx="1932012" cy="994660"/>
          </a:xfrm>
          <a:prstGeom prst="rect">
            <a:avLst/>
          </a:prstGeom>
        </p:spPr>
      </p:pic>
      <p:sp>
        <p:nvSpPr>
          <p:cNvPr id="18" name="TextBox 17">
            <a:extLst>
              <a:ext uri="{FF2B5EF4-FFF2-40B4-BE49-F238E27FC236}">
                <a16:creationId xmlns:a16="http://schemas.microsoft.com/office/drawing/2014/main" id="{243678CC-8DE9-C609-CBAD-2918A16398A7}"/>
              </a:ext>
            </a:extLst>
          </p:cNvPr>
          <p:cNvSpPr txBox="1"/>
          <p:nvPr/>
        </p:nvSpPr>
        <p:spPr>
          <a:xfrm>
            <a:off x="10159802" y="4288648"/>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9" name="TextBox 18">
            <a:extLst>
              <a:ext uri="{FF2B5EF4-FFF2-40B4-BE49-F238E27FC236}">
                <a16:creationId xmlns:a16="http://schemas.microsoft.com/office/drawing/2014/main" id="{E9C173B8-B4A8-8CD1-3382-28BC995C65B8}"/>
              </a:ext>
            </a:extLst>
          </p:cNvPr>
          <p:cNvSpPr txBox="1"/>
          <p:nvPr/>
        </p:nvSpPr>
        <p:spPr>
          <a:xfrm>
            <a:off x="737938" y="6110394"/>
            <a:ext cx="11117178" cy="646331"/>
          </a:xfrm>
          <a:prstGeom prst="rect">
            <a:avLst/>
          </a:prstGeom>
          <a:noFill/>
          <a:ln w="44450">
            <a:solidFill>
              <a:schemeClr val="accent1"/>
            </a:solidFill>
          </a:ln>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r>
              <a:rPr lang="en-US" dirty="0"/>
              <a:t> </a:t>
            </a:r>
            <a:r>
              <a:rPr lang="en-US" dirty="0">
                <a:latin typeface="ADLaM Display" panose="02010000000000000000" pitchFamily="2" charset="0"/>
                <a:ea typeface="ADLaM Display" panose="02010000000000000000" pitchFamily="2" charset="0"/>
                <a:cs typeface="ADLaM Display" panose="02010000000000000000" pitchFamily="2" charset="0"/>
              </a:rPr>
              <a:t>Total revenue is projected to reach 1,789,715 Taka, assuming all pending orders are successfully completed.</a:t>
            </a:r>
          </a:p>
        </p:txBody>
      </p:sp>
    </p:spTree>
    <p:extLst>
      <p:ext uri="{BB962C8B-B14F-4D97-AF65-F5344CB8AC3E}">
        <p14:creationId xmlns:p14="http://schemas.microsoft.com/office/powerpoint/2010/main" val="339543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80">
                                          <p:stCondLst>
                                            <p:cond delay="0"/>
                                          </p:stCondLst>
                                        </p:cTn>
                                        <p:tgtEl>
                                          <p:spTgt spid="4"/>
                                        </p:tgtEl>
                                      </p:cBhvr>
                                    </p:animEffect>
                                    <p:anim calcmode="lin" valueType="num">
                                      <p:cBhvr>
                                        <p:cTn id="1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gtEl>
                                      </p:cBhvr>
                                      <p:to x="100000" y="60000"/>
                                    </p:animScale>
                                    <p:animScale>
                                      <p:cBhvr>
                                        <p:cTn id="21" dur="166" decel="50000">
                                          <p:stCondLst>
                                            <p:cond delay="676"/>
                                          </p:stCondLst>
                                        </p:cTn>
                                        <p:tgtEl>
                                          <p:spTgt spid="4"/>
                                        </p:tgtEl>
                                      </p:cBhvr>
                                      <p:to x="100000" y="100000"/>
                                    </p:animScale>
                                    <p:animScale>
                                      <p:cBhvr>
                                        <p:cTn id="22" dur="26">
                                          <p:stCondLst>
                                            <p:cond delay="1312"/>
                                          </p:stCondLst>
                                        </p:cTn>
                                        <p:tgtEl>
                                          <p:spTgt spid="4"/>
                                        </p:tgtEl>
                                      </p:cBhvr>
                                      <p:to x="100000" y="80000"/>
                                    </p:animScale>
                                    <p:animScale>
                                      <p:cBhvr>
                                        <p:cTn id="23" dur="166" decel="50000">
                                          <p:stCondLst>
                                            <p:cond delay="1338"/>
                                          </p:stCondLst>
                                        </p:cTn>
                                        <p:tgtEl>
                                          <p:spTgt spid="4"/>
                                        </p:tgtEl>
                                      </p:cBhvr>
                                      <p:to x="100000" y="100000"/>
                                    </p:animScale>
                                    <p:animScale>
                                      <p:cBhvr>
                                        <p:cTn id="24" dur="26">
                                          <p:stCondLst>
                                            <p:cond delay="1642"/>
                                          </p:stCondLst>
                                        </p:cTn>
                                        <p:tgtEl>
                                          <p:spTgt spid="4"/>
                                        </p:tgtEl>
                                      </p:cBhvr>
                                      <p:to x="100000" y="90000"/>
                                    </p:animScale>
                                    <p:animScale>
                                      <p:cBhvr>
                                        <p:cTn id="25" dur="166" decel="50000">
                                          <p:stCondLst>
                                            <p:cond delay="1668"/>
                                          </p:stCondLst>
                                        </p:cTn>
                                        <p:tgtEl>
                                          <p:spTgt spid="4"/>
                                        </p:tgtEl>
                                      </p:cBhvr>
                                      <p:to x="100000" y="100000"/>
                                    </p:animScale>
                                    <p:animScale>
                                      <p:cBhvr>
                                        <p:cTn id="26" dur="26">
                                          <p:stCondLst>
                                            <p:cond delay="1808"/>
                                          </p:stCondLst>
                                        </p:cTn>
                                        <p:tgtEl>
                                          <p:spTgt spid="4"/>
                                        </p:tgtEl>
                                      </p:cBhvr>
                                      <p:to x="100000" y="95000"/>
                                    </p:animScale>
                                    <p:animScale>
                                      <p:cBhvr>
                                        <p:cTn id="27" dur="166" decel="50000">
                                          <p:stCondLst>
                                            <p:cond delay="1834"/>
                                          </p:stCondLst>
                                        </p:cTn>
                                        <p:tgtEl>
                                          <p:spTgt spid="4"/>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down)">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6"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down)">
                                      <p:cBhvr>
                                        <p:cTn id="54" dur="580">
                                          <p:stCondLst>
                                            <p:cond delay="0"/>
                                          </p:stCondLst>
                                        </p:cTn>
                                        <p:tgtEl>
                                          <p:spTgt spid="18"/>
                                        </p:tgtEl>
                                      </p:cBhvr>
                                    </p:animEffect>
                                    <p:anim calcmode="lin" valueType="num">
                                      <p:cBhvr>
                                        <p:cTn id="55"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56"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57"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58"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59"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60" dur="26">
                                          <p:stCondLst>
                                            <p:cond delay="650"/>
                                          </p:stCondLst>
                                        </p:cTn>
                                        <p:tgtEl>
                                          <p:spTgt spid="18"/>
                                        </p:tgtEl>
                                      </p:cBhvr>
                                      <p:to x="100000" y="60000"/>
                                    </p:animScale>
                                    <p:animScale>
                                      <p:cBhvr>
                                        <p:cTn id="61" dur="166" decel="50000">
                                          <p:stCondLst>
                                            <p:cond delay="676"/>
                                          </p:stCondLst>
                                        </p:cTn>
                                        <p:tgtEl>
                                          <p:spTgt spid="18"/>
                                        </p:tgtEl>
                                      </p:cBhvr>
                                      <p:to x="100000" y="100000"/>
                                    </p:animScale>
                                    <p:animScale>
                                      <p:cBhvr>
                                        <p:cTn id="62" dur="26">
                                          <p:stCondLst>
                                            <p:cond delay="1312"/>
                                          </p:stCondLst>
                                        </p:cTn>
                                        <p:tgtEl>
                                          <p:spTgt spid="18"/>
                                        </p:tgtEl>
                                      </p:cBhvr>
                                      <p:to x="100000" y="80000"/>
                                    </p:animScale>
                                    <p:animScale>
                                      <p:cBhvr>
                                        <p:cTn id="63" dur="166" decel="50000">
                                          <p:stCondLst>
                                            <p:cond delay="1338"/>
                                          </p:stCondLst>
                                        </p:cTn>
                                        <p:tgtEl>
                                          <p:spTgt spid="18"/>
                                        </p:tgtEl>
                                      </p:cBhvr>
                                      <p:to x="100000" y="100000"/>
                                    </p:animScale>
                                    <p:animScale>
                                      <p:cBhvr>
                                        <p:cTn id="64" dur="26">
                                          <p:stCondLst>
                                            <p:cond delay="1642"/>
                                          </p:stCondLst>
                                        </p:cTn>
                                        <p:tgtEl>
                                          <p:spTgt spid="18"/>
                                        </p:tgtEl>
                                      </p:cBhvr>
                                      <p:to x="100000" y="90000"/>
                                    </p:animScale>
                                    <p:animScale>
                                      <p:cBhvr>
                                        <p:cTn id="65" dur="166" decel="50000">
                                          <p:stCondLst>
                                            <p:cond delay="1668"/>
                                          </p:stCondLst>
                                        </p:cTn>
                                        <p:tgtEl>
                                          <p:spTgt spid="18"/>
                                        </p:tgtEl>
                                      </p:cBhvr>
                                      <p:to x="100000" y="100000"/>
                                    </p:animScale>
                                    <p:animScale>
                                      <p:cBhvr>
                                        <p:cTn id="66" dur="26">
                                          <p:stCondLst>
                                            <p:cond delay="1808"/>
                                          </p:stCondLst>
                                        </p:cTn>
                                        <p:tgtEl>
                                          <p:spTgt spid="18"/>
                                        </p:tgtEl>
                                      </p:cBhvr>
                                      <p:to x="100000" y="95000"/>
                                    </p:animScale>
                                    <p:animScale>
                                      <p:cBhvr>
                                        <p:cTn id="67" dur="166" decel="50000">
                                          <p:stCondLst>
                                            <p:cond delay="1834"/>
                                          </p:stCondLst>
                                        </p:cTn>
                                        <p:tgtEl>
                                          <p:spTgt spid="18"/>
                                        </p:tgtEl>
                                      </p:cBhvr>
                                      <p:to x="100000" y="100000"/>
                                    </p:animScale>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16" grpId="0" animBg="1"/>
      <p:bldP spid="18" grpId="0"/>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BD84FF-D354-1FE8-B34C-D2F2E3B96512}"/>
              </a:ext>
            </a:extLst>
          </p:cNvPr>
          <p:cNvSpPr txBox="1"/>
          <p:nvPr/>
        </p:nvSpPr>
        <p:spPr>
          <a:xfrm>
            <a:off x="737938" y="378274"/>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Product categories that contribute the most to total revenue.</a:t>
            </a:r>
          </a:p>
        </p:txBody>
      </p:sp>
      <p:pic>
        <p:nvPicPr>
          <p:cNvPr id="5" name="Picture 4">
            <a:extLst>
              <a:ext uri="{FF2B5EF4-FFF2-40B4-BE49-F238E27FC236}">
                <a16:creationId xmlns:a16="http://schemas.microsoft.com/office/drawing/2014/main" id="{E79B3CEB-4CEF-1212-266C-CF37012ED42F}"/>
              </a:ext>
            </a:extLst>
          </p:cNvPr>
          <p:cNvPicPr>
            <a:picLocks noChangeAspect="1"/>
          </p:cNvPicPr>
          <p:nvPr/>
        </p:nvPicPr>
        <p:blipFill>
          <a:blip r:embed="rId2"/>
          <a:stretch>
            <a:fillRect/>
          </a:stretch>
        </p:blipFill>
        <p:spPr>
          <a:xfrm>
            <a:off x="737938" y="1220083"/>
            <a:ext cx="6914146" cy="2208917"/>
          </a:xfrm>
          <a:prstGeom prst="rect">
            <a:avLst/>
          </a:prstGeom>
        </p:spPr>
      </p:pic>
      <p:graphicFrame>
        <p:nvGraphicFramePr>
          <p:cNvPr id="6" name="Chart 5">
            <a:extLst>
              <a:ext uri="{FF2B5EF4-FFF2-40B4-BE49-F238E27FC236}">
                <a16:creationId xmlns:a16="http://schemas.microsoft.com/office/drawing/2014/main" id="{BEEFEDCB-6477-B0C9-D083-4EC2BA30F26D}"/>
              </a:ext>
            </a:extLst>
          </p:cNvPr>
          <p:cNvGraphicFramePr>
            <a:graphicFrameLocks/>
          </p:cNvGraphicFramePr>
          <p:nvPr>
            <p:extLst>
              <p:ext uri="{D42A27DB-BD31-4B8C-83A1-F6EECF244321}">
                <p14:modId xmlns:p14="http://schemas.microsoft.com/office/powerpoint/2010/main" val="956768485"/>
              </p:ext>
            </p:extLst>
          </p:nvPr>
        </p:nvGraphicFramePr>
        <p:xfrm>
          <a:off x="4377755" y="3736526"/>
          <a:ext cx="7589656"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D97D111-0C55-9A3C-5D3D-DFD63CDEC962}"/>
              </a:ext>
            </a:extLst>
          </p:cNvPr>
          <p:cNvSpPr txBox="1"/>
          <p:nvPr/>
        </p:nvSpPr>
        <p:spPr>
          <a:xfrm>
            <a:off x="8149388" y="1220083"/>
            <a:ext cx="3818023" cy="2308324"/>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chart clearly indicates that the Fashion category generates the highest revenue for </a:t>
            </a:r>
            <a:r>
              <a:rPr lang="en-US" dirty="0" err="1">
                <a:latin typeface="ADLaM Display" panose="02010000000000000000" pitchFamily="2" charset="0"/>
                <a:ea typeface="ADLaM Display" panose="02010000000000000000" pitchFamily="2" charset="0"/>
                <a:cs typeface="ADLaM Display" panose="02010000000000000000" pitchFamily="2" charset="0"/>
              </a:rPr>
              <a:t>UrbanCart</a:t>
            </a:r>
            <a:r>
              <a:rPr lang="en-US" dirty="0">
                <a:latin typeface="ADLaM Display" panose="02010000000000000000" pitchFamily="2" charset="0"/>
                <a:ea typeface="ADLaM Display" panose="02010000000000000000" pitchFamily="2" charset="0"/>
                <a:cs typeface="ADLaM Display" panose="02010000000000000000" pitchFamily="2" charset="0"/>
              </a:rPr>
              <a:t>, followed by Grocery and Electronics. This analysis considers only </a:t>
            </a:r>
            <a:r>
              <a:rPr lang="en-US" dirty="0">
                <a:solidFill>
                  <a:schemeClr val="accent4">
                    <a:lumMod val="75000"/>
                  </a:schemeClr>
                </a:solidFill>
                <a:latin typeface="ADLaM Display" panose="02010000000000000000" pitchFamily="2" charset="0"/>
                <a:ea typeface="ADLaM Display" panose="02010000000000000000" pitchFamily="2" charset="0"/>
                <a:cs typeface="ADLaM Display" panose="02010000000000000000" pitchFamily="2" charset="0"/>
              </a:rPr>
              <a:t>completed </a:t>
            </a:r>
            <a:r>
              <a:rPr lang="en-US" dirty="0">
                <a:latin typeface="ADLaM Display" panose="02010000000000000000" pitchFamily="2" charset="0"/>
                <a:ea typeface="ADLaM Display" panose="02010000000000000000" pitchFamily="2" charset="0"/>
                <a:cs typeface="ADLaM Display" panose="02010000000000000000" pitchFamily="2" charset="0"/>
              </a:rPr>
              <a:t>orders.</a:t>
            </a:r>
          </a:p>
          <a:p>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9" name="Picture 8">
            <a:extLst>
              <a:ext uri="{FF2B5EF4-FFF2-40B4-BE49-F238E27FC236}">
                <a16:creationId xmlns:a16="http://schemas.microsoft.com/office/drawing/2014/main" id="{3E4DB442-4798-9F86-C32C-0DB0E7B9DCC6}"/>
              </a:ext>
            </a:extLst>
          </p:cNvPr>
          <p:cNvPicPr>
            <a:picLocks noChangeAspect="1"/>
          </p:cNvPicPr>
          <p:nvPr/>
        </p:nvPicPr>
        <p:blipFill>
          <a:blip r:embed="rId4"/>
          <a:stretch>
            <a:fillRect/>
          </a:stretch>
        </p:blipFill>
        <p:spPr>
          <a:xfrm>
            <a:off x="737938" y="3736526"/>
            <a:ext cx="3224462" cy="2743200"/>
          </a:xfrm>
          <a:prstGeom prst="rect">
            <a:avLst/>
          </a:prstGeom>
        </p:spPr>
      </p:pic>
    </p:spTree>
    <p:extLst>
      <p:ext uri="{BB962C8B-B14F-4D97-AF65-F5344CB8AC3E}">
        <p14:creationId xmlns:p14="http://schemas.microsoft.com/office/powerpoint/2010/main" val="93601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6" grpId="0">
        <p:bldAsOne/>
      </p:bldGraphic>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B94E36-76AC-D8EA-B4B7-5683F936CD2D}"/>
              </a:ext>
            </a:extLst>
          </p:cNvPr>
          <p:cNvSpPr txBox="1"/>
          <p:nvPr/>
        </p:nvSpPr>
        <p:spPr>
          <a:xfrm>
            <a:off x="737938" y="378274"/>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Individual products  wise  revenue :</a:t>
            </a:r>
          </a:p>
        </p:txBody>
      </p:sp>
      <p:pic>
        <p:nvPicPr>
          <p:cNvPr id="5" name="Picture 4">
            <a:extLst>
              <a:ext uri="{FF2B5EF4-FFF2-40B4-BE49-F238E27FC236}">
                <a16:creationId xmlns:a16="http://schemas.microsoft.com/office/drawing/2014/main" id="{FAF5BD3C-6971-41B9-7156-6FA1301A70E6}"/>
              </a:ext>
            </a:extLst>
          </p:cNvPr>
          <p:cNvPicPr>
            <a:picLocks noChangeAspect="1"/>
          </p:cNvPicPr>
          <p:nvPr/>
        </p:nvPicPr>
        <p:blipFill>
          <a:blip r:embed="rId2"/>
          <a:stretch>
            <a:fillRect/>
          </a:stretch>
        </p:blipFill>
        <p:spPr>
          <a:xfrm>
            <a:off x="737937" y="909701"/>
            <a:ext cx="7148763" cy="2260087"/>
          </a:xfrm>
          <a:prstGeom prst="rect">
            <a:avLst/>
          </a:prstGeom>
        </p:spPr>
      </p:pic>
      <p:graphicFrame>
        <p:nvGraphicFramePr>
          <p:cNvPr id="8" name="Chart 7">
            <a:extLst>
              <a:ext uri="{FF2B5EF4-FFF2-40B4-BE49-F238E27FC236}">
                <a16:creationId xmlns:a16="http://schemas.microsoft.com/office/drawing/2014/main" id="{1C13597B-2E48-7A91-FA9C-271E671F5964}"/>
              </a:ext>
            </a:extLst>
          </p:cNvPr>
          <p:cNvGraphicFramePr>
            <a:graphicFrameLocks/>
          </p:cNvGraphicFramePr>
          <p:nvPr>
            <p:extLst>
              <p:ext uri="{D42A27DB-BD31-4B8C-83A1-F6EECF244321}">
                <p14:modId xmlns:p14="http://schemas.microsoft.com/office/powerpoint/2010/main" val="1704782231"/>
              </p:ext>
            </p:extLst>
          </p:nvPr>
        </p:nvGraphicFramePr>
        <p:xfrm>
          <a:off x="353961" y="2476500"/>
          <a:ext cx="6343497" cy="438150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a:extLst>
              <a:ext uri="{FF2B5EF4-FFF2-40B4-BE49-F238E27FC236}">
                <a16:creationId xmlns:a16="http://schemas.microsoft.com/office/drawing/2014/main" id="{5B3191C4-11CE-091C-89B5-77768E02DDF1}"/>
              </a:ext>
            </a:extLst>
          </p:cNvPr>
          <p:cNvPicPr>
            <a:picLocks noChangeAspect="1"/>
          </p:cNvPicPr>
          <p:nvPr/>
        </p:nvPicPr>
        <p:blipFill>
          <a:blip r:embed="rId4"/>
          <a:stretch>
            <a:fillRect/>
          </a:stretch>
        </p:blipFill>
        <p:spPr>
          <a:xfrm>
            <a:off x="8270676" y="909701"/>
            <a:ext cx="3430978" cy="2998622"/>
          </a:xfrm>
          <a:prstGeom prst="rect">
            <a:avLst/>
          </a:prstGeom>
        </p:spPr>
      </p:pic>
      <p:sp>
        <p:nvSpPr>
          <p:cNvPr id="11" name="TextBox 10">
            <a:extLst>
              <a:ext uri="{FF2B5EF4-FFF2-40B4-BE49-F238E27FC236}">
                <a16:creationId xmlns:a16="http://schemas.microsoft.com/office/drawing/2014/main" id="{3388FBC1-6DF6-BCE1-90F1-CDC5ECCBB699}"/>
              </a:ext>
            </a:extLst>
          </p:cNvPr>
          <p:cNvSpPr txBox="1"/>
          <p:nvPr/>
        </p:nvSpPr>
        <p:spPr>
          <a:xfrm>
            <a:off x="6961238" y="4101196"/>
            <a:ext cx="5053781" cy="261610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latin typeface="ADLaM Display" panose="02010000000000000000" pitchFamily="2" charset="0"/>
                <a:ea typeface="ADLaM Display" panose="02010000000000000000" pitchFamily="2" charset="0"/>
                <a:cs typeface="ADLaM Display" panose="02010000000000000000" pitchFamily="2" charset="0"/>
              </a:rPr>
              <a:t>The SQL query is used to calculate product-wise revenue, with only the top 15 products displayed in both the output table and the bar chart. The results indicate that Power Bank (1000 </a:t>
            </a:r>
            <a:r>
              <a:rPr lang="en-US" sz="1600" dirty="0" err="1">
                <a:latin typeface="ADLaM Display" panose="02010000000000000000" pitchFamily="2" charset="0"/>
                <a:ea typeface="ADLaM Display" panose="02010000000000000000" pitchFamily="2" charset="0"/>
                <a:cs typeface="ADLaM Display" panose="02010000000000000000" pitchFamily="2" charset="0"/>
              </a:rPr>
              <a:t>mAh</a:t>
            </a:r>
            <a:r>
              <a:rPr lang="en-US" sz="1600" dirty="0">
                <a:latin typeface="ADLaM Display" panose="02010000000000000000" pitchFamily="2" charset="0"/>
                <a:ea typeface="ADLaM Display" panose="02010000000000000000" pitchFamily="2" charset="0"/>
                <a:cs typeface="ADLaM Display" panose="02010000000000000000" pitchFamily="2" charset="0"/>
              </a:rPr>
              <a:t>) generates the highest revenue, followed by Nazir Shali Rice (500 kg) and Horlicks (500 g). These top-performing products contribute significantly to overall sales, highlighting key revenue drivers within the product portfolio.</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90047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3"/>
                                        </p:tgtEl>
                                        <p:attrNameLst>
                                          <p:attrName>style.color</p:attrName>
                                        </p:attrNameLst>
                                      </p:cBhvr>
                                      <p:to>
                                        <a:schemeClr val="bg1"/>
                                      </p:to>
                                    </p:animClr>
                                    <p:animClr clrSpc="rgb" dir="cw">
                                      <p:cBhvr>
                                        <p:cTn id="7" dur="250" autoRev="1" fill="remove"/>
                                        <p:tgtEl>
                                          <p:spTgt spid="3"/>
                                        </p:tgtEl>
                                        <p:attrNameLst>
                                          <p:attrName>fillcolor</p:attrName>
                                        </p:attrNameLst>
                                      </p:cBhvr>
                                      <p:to>
                                        <a:schemeClr val="bg1"/>
                                      </p:to>
                                    </p:animClr>
                                    <p:set>
                                      <p:cBhvr>
                                        <p:cTn id="8" dur="250" autoRev="1" fill="remove"/>
                                        <p:tgtEl>
                                          <p:spTgt spid="3"/>
                                        </p:tgtEl>
                                        <p:attrNameLst>
                                          <p:attrName>fill.type</p:attrName>
                                        </p:attrNameLst>
                                      </p:cBhvr>
                                      <p:to>
                                        <p:strVal val="solid"/>
                                      </p:to>
                                    </p:set>
                                    <p:set>
                                      <p:cBhvr>
                                        <p:cTn id="9" dur="250" autoRev="1" fill="remove"/>
                                        <p:tgtEl>
                                          <p:spTgt spid="3"/>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Graphic spid="8" grpId="0">
        <p:bldAsOne/>
      </p:bldGraphic>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7878BB-E727-63A0-2092-B35EEE269865}"/>
              </a:ext>
            </a:extLst>
          </p:cNvPr>
          <p:cNvPicPr>
            <a:picLocks noChangeAspect="1"/>
          </p:cNvPicPr>
          <p:nvPr/>
        </p:nvPicPr>
        <p:blipFill>
          <a:blip r:embed="rId2"/>
          <a:stretch>
            <a:fillRect/>
          </a:stretch>
        </p:blipFill>
        <p:spPr>
          <a:xfrm>
            <a:off x="614143" y="1019682"/>
            <a:ext cx="6929658" cy="1794956"/>
          </a:xfrm>
          <a:prstGeom prst="rect">
            <a:avLst/>
          </a:prstGeom>
        </p:spPr>
      </p:pic>
      <p:sp>
        <p:nvSpPr>
          <p:cNvPr id="4" name="TextBox 3">
            <a:extLst>
              <a:ext uri="{FF2B5EF4-FFF2-40B4-BE49-F238E27FC236}">
                <a16:creationId xmlns:a16="http://schemas.microsoft.com/office/drawing/2014/main" id="{BD5C7D59-C8FB-C46F-9A31-CDD98F4E3F72}"/>
              </a:ext>
            </a:extLst>
          </p:cNvPr>
          <p:cNvSpPr txBox="1"/>
          <p:nvPr/>
        </p:nvSpPr>
        <p:spPr>
          <a:xfrm>
            <a:off x="614142" y="362509"/>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average order value (AOV) and Average Basket Size :</a:t>
            </a:r>
          </a:p>
        </p:txBody>
      </p:sp>
      <p:pic>
        <p:nvPicPr>
          <p:cNvPr id="6" name="Picture 5">
            <a:extLst>
              <a:ext uri="{FF2B5EF4-FFF2-40B4-BE49-F238E27FC236}">
                <a16:creationId xmlns:a16="http://schemas.microsoft.com/office/drawing/2014/main" id="{0E06918C-FE90-B6DD-EEEA-7692AB47F5A4}"/>
              </a:ext>
            </a:extLst>
          </p:cNvPr>
          <p:cNvPicPr>
            <a:picLocks noChangeAspect="1"/>
          </p:cNvPicPr>
          <p:nvPr/>
        </p:nvPicPr>
        <p:blipFill>
          <a:blip r:embed="rId3"/>
          <a:stretch>
            <a:fillRect/>
          </a:stretch>
        </p:blipFill>
        <p:spPr>
          <a:xfrm>
            <a:off x="8462747" y="1598028"/>
            <a:ext cx="3115110" cy="638264"/>
          </a:xfrm>
          <a:prstGeom prst="rect">
            <a:avLst/>
          </a:prstGeom>
        </p:spPr>
      </p:pic>
      <p:sp>
        <p:nvSpPr>
          <p:cNvPr id="7" name="TextBox 6">
            <a:extLst>
              <a:ext uri="{FF2B5EF4-FFF2-40B4-BE49-F238E27FC236}">
                <a16:creationId xmlns:a16="http://schemas.microsoft.com/office/drawing/2014/main" id="{62E39463-68BF-A39B-0F6B-A7BDF385C28E}"/>
              </a:ext>
            </a:extLst>
          </p:cNvPr>
          <p:cNvSpPr txBox="1"/>
          <p:nvPr/>
        </p:nvSpPr>
        <p:spPr>
          <a:xfrm>
            <a:off x="9434622" y="1065353"/>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6DC69D6D-85A7-E579-B256-B71DF4639E02}"/>
              </a:ext>
            </a:extLst>
          </p:cNvPr>
          <p:cNvSpPr txBox="1"/>
          <p:nvPr/>
        </p:nvSpPr>
        <p:spPr>
          <a:xfrm>
            <a:off x="614142" y="5025470"/>
            <a:ext cx="10963715" cy="1631216"/>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latin typeface="ADLaM Display" panose="02010000000000000000" pitchFamily="2" charset="0"/>
                <a:ea typeface="ADLaM Display" panose="02010000000000000000" pitchFamily="2" charset="0"/>
                <a:cs typeface="ADLaM Display" panose="02010000000000000000" pitchFamily="2" charset="0"/>
              </a:rPr>
              <a:t>Considering only completed orders, the average order value (AOV) is 1,899 Taka, while the average basket size is 9.9 items. This indicates that, on average, each order generates 1,899 Taka in revenue, and customers typically purchase around 10 products per order.</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Considering completed and pending orders , the average order value(AOV) is 1876 Taka, and average basket size is 10 items.</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1" name="TextBox 10">
            <a:extLst>
              <a:ext uri="{FF2B5EF4-FFF2-40B4-BE49-F238E27FC236}">
                <a16:creationId xmlns:a16="http://schemas.microsoft.com/office/drawing/2014/main" id="{BD4A66B5-6DEB-5479-E313-CD584D6375BF}"/>
              </a:ext>
            </a:extLst>
          </p:cNvPr>
          <p:cNvSpPr txBox="1"/>
          <p:nvPr/>
        </p:nvSpPr>
        <p:spPr>
          <a:xfrm>
            <a:off x="661771" y="3159421"/>
            <a:ext cx="5115143" cy="1477328"/>
          </a:xfrm>
          <a:prstGeom prst="rect">
            <a:avLst/>
          </a:prstGeom>
          <a:gradFill>
            <a:gsLst>
              <a:gs pos="0">
                <a:srgbClr val="C2E49C"/>
              </a:gs>
              <a:gs pos="48000">
                <a:srgbClr val="EEF7B7"/>
              </a:gs>
              <a:gs pos="100000">
                <a:srgbClr val="C2E49C"/>
              </a:gs>
            </a:gsLst>
            <a:lin ang="16200000" scaled="1"/>
          </a:gradFill>
          <a:ln w="44450">
            <a:solidFill>
              <a:schemeClr val="accent1"/>
            </a:solidFill>
          </a:ln>
        </p:spPr>
        <p:txBody>
          <a:bodyPr wrap="square" rtlCol="0">
            <a:spAutoFit/>
          </a:bodyP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If considering the order of completed and pending orders, then the query need to slight change in </a:t>
            </a:r>
          </a:p>
          <a:p>
            <a:pPr algn="ct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3" name="Picture 12">
            <a:extLst>
              <a:ext uri="{FF2B5EF4-FFF2-40B4-BE49-F238E27FC236}">
                <a16:creationId xmlns:a16="http://schemas.microsoft.com/office/drawing/2014/main" id="{58CD7364-325A-2A7F-F338-57C319B40BD2}"/>
              </a:ext>
            </a:extLst>
          </p:cNvPr>
          <p:cNvPicPr>
            <a:picLocks noChangeAspect="1"/>
          </p:cNvPicPr>
          <p:nvPr/>
        </p:nvPicPr>
        <p:blipFill>
          <a:blip r:embed="rId4"/>
          <a:stretch>
            <a:fillRect/>
          </a:stretch>
        </p:blipFill>
        <p:spPr>
          <a:xfrm>
            <a:off x="1437934" y="4157703"/>
            <a:ext cx="3334215" cy="285790"/>
          </a:xfrm>
          <a:prstGeom prst="rect">
            <a:avLst/>
          </a:prstGeom>
        </p:spPr>
      </p:pic>
      <p:sp>
        <p:nvSpPr>
          <p:cNvPr id="14" name="TextBox 13">
            <a:extLst>
              <a:ext uri="{FF2B5EF4-FFF2-40B4-BE49-F238E27FC236}">
                <a16:creationId xmlns:a16="http://schemas.microsoft.com/office/drawing/2014/main" id="{6A056730-B0E1-0ED1-6EB9-AF4F1A969F10}"/>
              </a:ext>
            </a:extLst>
          </p:cNvPr>
          <p:cNvSpPr txBox="1"/>
          <p:nvPr/>
        </p:nvSpPr>
        <p:spPr>
          <a:xfrm>
            <a:off x="6281740" y="3657856"/>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6" name="Picture 15">
            <a:extLst>
              <a:ext uri="{FF2B5EF4-FFF2-40B4-BE49-F238E27FC236}">
                <a16:creationId xmlns:a16="http://schemas.microsoft.com/office/drawing/2014/main" id="{D01F14FC-FA9F-C803-0DAC-C6A0C01D42C3}"/>
              </a:ext>
            </a:extLst>
          </p:cNvPr>
          <p:cNvPicPr>
            <a:picLocks noChangeAspect="1"/>
          </p:cNvPicPr>
          <p:nvPr/>
        </p:nvPicPr>
        <p:blipFill>
          <a:blip r:embed="rId5"/>
          <a:stretch>
            <a:fillRect/>
          </a:stretch>
        </p:blipFill>
        <p:spPr>
          <a:xfrm>
            <a:off x="8462747" y="3587667"/>
            <a:ext cx="3191320" cy="600159"/>
          </a:xfrm>
          <a:prstGeom prst="rect">
            <a:avLst/>
          </a:prstGeom>
        </p:spPr>
      </p:pic>
    </p:spTree>
    <p:extLst>
      <p:ext uri="{BB962C8B-B14F-4D97-AF65-F5344CB8AC3E}">
        <p14:creationId xmlns:p14="http://schemas.microsoft.com/office/powerpoint/2010/main" val="183824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4"/>
                                        </p:tgtEl>
                                        <p:attrNameLst>
                                          <p:attrName>style.color</p:attrName>
                                        </p:attrNameLst>
                                      </p:cBhvr>
                                      <p:to>
                                        <a:schemeClr val="bg1"/>
                                      </p:to>
                                    </p:animClr>
                                    <p:animClr clrSpc="rgb" dir="cw">
                                      <p:cBhvr>
                                        <p:cTn id="7" dur="250" autoRev="1" fill="remove"/>
                                        <p:tgtEl>
                                          <p:spTgt spid="4"/>
                                        </p:tgtEl>
                                        <p:attrNameLst>
                                          <p:attrName>fillcolor</p:attrName>
                                        </p:attrNameLst>
                                      </p:cBhvr>
                                      <p:to>
                                        <a:schemeClr val="bg1"/>
                                      </p:to>
                                    </p:animClr>
                                    <p:set>
                                      <p:cBhvr>
                                        <p:cTn id="8" dur="250" autoRev="1" fill="remove"/>
                                        <p:tgtEl>
                                          <p:spTgt spid="4"/>
                                        </p:tgtEl>
                                        <p:attrNameLst>
                                          <p:attrName>fill.type</p:attrName>
                                        </p:attrNameLst>
                                      </p:cBhvr>
                                      <p:to>
                                        <p:strVal val="solid"/>
                                      </p:to>
                                    </p:set>
                                    <p:set>
                                      <p:cBhvr>
                                        <p:cTn id="9" dur="250" autoRev="1" fill="remove"/>
                                        <p:tgtEl>
                                          <p:spTgt spid="4"/>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arn(inVertical)">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down)">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animBg="1"/>
      <p:bldP spid="11" grpId="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69982E-ADC8-926B-DA6B-BE79BE2826CA}"/>
              </a:ext>
            </a:extLst>
          </p:cNvPr>
          <p:cNvPicPr>
            <a:picLocks noChangeAspect="1"/>
          </p:cNvPicPr>
          <p:nvPr/>
        </p:nvPicPr>
        <p:blipFill>
          <a:blip r:embed="rId2"/>
          <a:stretch>
            <a:fillRect/>
          </a:stretch>
        </p:blipFill>
        <p:spPr>
          <a:xfrm>
            <a:off x="614142" y="1290164"/>
            <a:ext cx="5960079" cy="4825822"/>
          </a:xfrm>
          <a:prstGeom prst="rect">
            <a:avLst/>
          </a:prstGeom>
        </p:spPr>
      </p:pic>
      <p:sp>
        <p:nvSpPr>
          <p:cNvPr id="4" name="TextBox 3">
            <a:extLst>
              <a:ext uri="{FF2B5EF4-FFF2-40B4-BE49-F238E27FC236}">
                <a16:creationId xmlns:a16="http://schemas.microsoft.com/office/drawing/2014/main" id="{229B9154-5915-0C92-5B85-F53229E26C4D}"/>
              </a:ext>
            </a:extLst>
          </p:cNvPr>
          <p:cNvSpPr txBox="1"/>
          <p:nvPr/>
        </p:nvSpPr>
        <p:spPr>
          <a:xfrm>
            <a:off x="614142" y="403460"/>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products are at risk of stock-out due to high sales volume and low inventory :</a:t>
            </a:r>
          </a:p>
        </p:txBody>
      </p:sp>
      <p:pic>
        <p:nvPicPr>
          <p:cNvPr id="6" name="Picture 5">
            <a:extLst>
              <a:ext uri="{FF2B5EF4-FFF2-40B4-BE49-F238E27FC236}">
                <a16:creationId xmlns:a16="http://schemas.microsoft.com/office/drawing/2014/main" id="{B80D4F57-FB98-85BB-DFCD-04CF2CEF03CB}"/>
              </a:ext>
            </a:extLst>
          </p:cNvPr>
          <p:cNvPicPr>
            <a:picLocks noChangeAspect="1"/>
          </p:cNvPicPr>
          <p:nvPr/>
        </p:nvPicPr>
        <p:blipFill>
          <a:blip r:embed="rId3"/>
          <a:stretch>
            <a:fillRect/>
          </a:stretch>
        </p:blipFill>
        <p:spPr>
          <a:xfrm>
            <a:off x="6745573" y="1310775"/>
            <a:ext cx="5111646" cy="4784599"/>
          </a:xfrm>
          <a:prstGeom prst="rect">
            <a:avLst/>
          </a:prstGeom>
        </p:spPr>
      </p:pic>
    </p:spTree>
    <p:extLst>
      <p:ext uri="{BB962C8B-B14F-4D97-AF65-F5344CB8AC3E}">
        <p14:creationId xmlns:p14="http://schemas.microsoft.com/office/powerpoint/2010/main" val="258426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4"/>
                                        </p:tgtEl>
                                        <p:attrNameLst>
                                          <p:attrName>style.color</p:attrName>
                                        </p:attrNameLst>
                                      </p:cBhvr>
                                      <p:to>
                                        <a:schemeClr val="bg1"/>
                                      </p:to>
                                    </p:animClr>
                                    <p:animClr clrSpc="rgb" dir="cw">
                                      <p:cBhvr>
                                        <p:cTn id="7" dur="250" autoRev="1" fill="remove"/>
                                        <p:tgtEl>
                                          <p:spTgt spid="4"/>
                                        </p:tgtEl>
                                        <p:attrNameLst>
                                          <p:attrName>fillcolor</p:attrName>
                                        </p:attrNameLst>
                                      </p:cBhvr>
                                      <p:to>
                                        <a:schemeClr val="bg1"/>
                                      </p:to>
                                    </p:animClr>
                                    <p:set>
                                      <p:cBhvr>
                                        <p:cTn id="8" dur="250" autoRev="1" fill="remove"/>
                                        <p:tgtEl>
                                          <p:spTgt spid="4"/>
                                        </p:tgtEl>
                                        <p:attrNameLst>
                                          <p:attrName>fill.type</p:attrName>
                                        </p:attrNameLst>
                                      </p:cBhvr>
                                      <p:to>
                                        <p:strVal val="solid"/>
                                      </p:to>
                                    </p:set>
                                    <p:set>
                                      <p:cBhvr>
                                        <p:cTn id="9" dur="250" autoRev="1" fill="remove"/>
                                        <p:tgtEl>
                                          <p:spTgt spid="4"/>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693657D-F40F-74EE-13C6-601407278559}"/>
              </a:ext>
            </a:extLst>
          </p:cNvPr>
          <p:cNvGraphicFramePr>
            <a:graphicFrameLocks/>
          </p:cNvGraphicFramePr>
          <p:nvPr>
            <p:extLst>
              <p:ext uri="{D42A27DB-BD31-4B8C-83A1-F6EECF244321}">
                <p14:modId xmlns:p14="http://schemas.microsoft.com/office/powerpoint/2010/main" val="1898979145"/>
              </p:ext>
            </p:extLst>
          </p:nvPr>
        </p:nvGraphicFramePr>
        <p:xfrm>
          <a:off x="881061" y="214312"/>
          <a:ext cx="10429875" cy="356705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A78E2AD1-39E9-CF84-8E10-CEF98EC63245}"/>
              </a:ext>
            </a:extLst>
          </p:cNvPr>
          <p:cNvSpPr txBox="1"/>
          <p:nvPr/>
        </p:nvSpPr>
        <p:spPr>
          <a:xfrm>
            <a:off x="614140" y="3718679"/>
            <a:ext cx="10963715" cy="313932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chart illustrates the stock-to-sales ratio to assess the risk of stock-out across products. A ratio between 0.2 and 0.5 indicates a high risk of stock-out, within which Power Bank (1000 </a:t>
            </a:r>
            <a:r>
              <a:rPr lang="en-US" dirty="0" err="1">
                <a:latin typeface="ADLaM Display" panose="02010000000000000000" pitchFamily="2" charset="0"/>
                <a:ea typeface="ADLaM Display" panose="02010000000000000000" pitchFamily="2" charset="0"/>
                <a:cs typeface="ADLaM Display" panose="02010000000000000000" pitchFamily="2" charset="0"/>
              </a:rPr>
              <a:t>mAh</a:t>
            </a:r>
            <a:r>
              <a:rPr lang="en-US" dirty="0">
                <a:latin typeface="ADLaM Display" panose="02010000000000000000" pitchFamily="2" charset="0"/>
                <a:ea typeface="ADLaM Display" panose="02010000000000000000" pitchFamily="2" charset="0"/>
                <a:cs typeface="ADLaM Display" panose="02010000000000000000" pitchFamily="2" charset="0"/>
              </a:rPr>
              <a:t>) falls, making it the most vulnerable product. Products with a ratio between 0.5 and 1 are classified as having a medium risk of stock-out, including Wallet, Horlicks (500 g), and Bru Coffee (200 g). Products with a stock-to-sales ratio greater than 1 are considered to have a low risk of stock-out.</a:t>
            </a: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Given that Power Bank (1000 </a:t>
            </a:r>
            <a:r>
              <a:rPr lang="en-US" dirty="0" err="1">
                <a:latin typeface="ADLaM Display" panose="02010000000000000000" pitchFamily="2" charset="0"/>
                <a:ea typeface="ADLaM Display" panose="02010000000000000000" pitchFamily="2" charset="0"/>
                <a:cs typeface="ADLaM Display" panose="02010000000000000000" pitchFamily="2" charset="0"/>
              </a:rPr>
              <a:t>mAh</a:t>
            </a:r>
            <a:r>
              <a:rPr lang="en-US" dirty="0">
                <a:latin typeface="ADLaM Display" panose="02010000000000000000" pitchFamily="2" charset="0"/>
                <a:ea typeface="ADLaM Display" panose="02010000000000000000" pitchFamily="2" charset="0"/>
                <a:cs typeface="ADLaM Display" panose="02010000000000000000" pitchFamily="2" charset="0"/>
              </a:rPr>
              <a:t>) and Wallet, Horlicks (500 g), and Bru Coffee (200 g) fall into the high- and medium-risk categories, management should prioritize increasing production or inventory levels for these products to reduce the likelihood of stock-outs and meet customer demand effectively.</a:t>
            </a:r>
          </a:p>
        </p:txBody>
      </p:sp>
    </p:spTree>
    <p:extLst>
      <p:ext uri="{BB962C8B-B14F-4D97-AF65-F5344CB8AC3E}">
        <p14:creationId xmlns:p14="http://schemas.microsoft.com/office/powerpoint/2010/main" val="239840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ADD429-C01A-CF58-A08D-4B2A43F1C33F}"/>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customers  who contribute the highest  to total revenue</a:t>
            </a:r>
          </a:p>
        </p:txBody>
      </p:sp>
      <p:pic>
        <p:nvPicPr>
          <p:cNvPr id="6" name="Picture 5">
            <a:extLst>
              <a:ext uri="{FF2B5EF4-FFF2-40B4-BE49-F238E27FC236}">
                <a16:creationId xmlns:a16="http://schemas.microsoft.com/office/drawing/2014/main" id="{41E9C437-D304-A696-92B8-E5ED29C47268}"/>
              </a:ext>
            </a:extLst>
          </p:cNvPr>
          <p:cNvPicPr>
            <a:picLocks noChangeAspect="1"/>
          </p:cNvPicPr>
          <p:nvPr/>
        </p:nvPicPr>
        <p:blipFill>
          <a:blip r:embed="rId3"/>
          <a:stretch>
            <a:fillRect/>
          </a:stretch>
        </p:blipFill>
        <p:spPr>
          <a:xfrm>
            <a:off x="378288" y="909498"/>
            <a:ext cx="7000764" cy="3148151"/>
          </a:xfrm>
          <a:prstGeom prst="rect">
            <a:avLst/>
          </a:prstGeom>
        </p:spPr>
      </p:pic>
      <p:pic>
        <p:nvPicPr>
          <p:cNvPr id="8" name="Picture 7">
            <a:extLst>
              <a:ext uri="{FF2B5EF4-FFF2-40B4-BE49-F238E27FC236}">
                <a16:creationId xmlns:a16="http://schemas.microsoft.com/office/drawing/2014/main" id="{2C254C9C-A5F5-229C-7EB3-9C53698A6229}"/>
              </a:ext>
            </a:extLst>
          </p:cNvPr>
          <p:cNvPicPr>
            <a:picLocks noChangeAspect="1"/>
          </p:cNvPicPr>
          <p:nvPr/>
        </p:nvPicPr>
        <p:blipFill>
          <a:blip r:embed="rId4"/>
          <a:stretch>
            <a:fillRect/>
          </a:stretch>
        </p:blipFill>
        <p:spPr>
          <a:xfrm>
            <a:off x="7614904" y="909498"/>
            <a:ext cx="4300871" cy="5791340"/>
          </a:xfrm>
          <a:prstGeom prst="rect">
            <a:avLst/>
          </a:prstGeom>
        </p:spPr>
      </p:pic>
      <p:sp>
        <p:nvSpPr>
          <p:cNvPr id="9" name="TextBox 8">
            <a:extLst>
              <a:ext uri="{FF2B5EF4-FFF2-40B4-BE49-F238E27FC236}">
                <a16:creationId xmlns:a16="http://schemas.microsoft.com/office/drawing/2014/main" id="{F2030ECA-C808-1BC2-011C-37C8515640CE}"/>
              </a:ext>
            </a:extLst>
          </p:cNvPr>
          <p:cNvSpPr txBox="1"/>
          <p:nvPr/>
        </p:nvSpPr>
        <p:spPr>
          <a:xfrm>
            <a:off x="378288" y="4253708"/>
            <a:ext cx="7000764" cy="2585323"/>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output of the SQL query identifies the top 18 customers who contribute the highest share of total revenue, based exclusively on completed orders. These customers represent UrbanCart’s most valuable customer segment. To maintain their strong purchasing behavior and enhance customer loyalty, </a:t>
            </a:r>
            <a:r>
              <a:rPr lang="en-US" dirty="0" err="1">
                <a:latin typeface="ADLaM Display" panose="02010000000000000000" pitchFamily="2" charset="0"/>
                <a:ea typeface="ADLaM Display" panose="02010000000000000000" pitchFamily="2" charset="0"/>
                <a:cs typeface="ADLaM Display" panose="02010000000000000000" pitchFamily="2" charset="0"/>
              </a:rPr>
              <a:t>UrbanCart</a:t>
            </a:r>
            <a:r>
              <a:rPr lang="en-US" dirty="0">
                <a:latin typeface="ADLaM Display" panose="02010000000000000000" pitchFamily="2" charset="0"/>
                <a:ea typeface="ADLaM Display" panose="02010000000000000000" pitchFamily="2" charset="0"/>
                <a:cs typeface="ADLaM Display" panose="02010000000000000000" pitchFamily="2" charset="0"/>
              </a:rPr>
              <a:t> may consider offering targeted discounts, loyalty rewards, or exclusive incentives to retain these high-value customers.</a:t>
            </a:r>
          </a:p>
        </p:txBody>
      </p:sp>
    </p:spTree>
    <p:extLst>
      <p:ext uri="{BB962C8B-B14F-4D97-AF65-F5344CB8AC3E}">
        <p14:creationId xmlns:p14="http://schemas.microsoft.com/office/powerpoint/2010/main" val="54847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BE6D0-BB56-9FA4-E308-85A3A13AED66}"/>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average number of products purchased per order</a:t>
            </a:r>
          </a:p>
        </p:txBody>
      </p:sp>
      <p:pic>
        <p:nvPicPr>
          <p:cNvPr id="4" name="Picture 3">
            <a:extLst>
              <a:ext uri="{FF2B5EF4-FFF2-40B4-BE49-F238E27FC236}">
                <a16:creationId xmlns:a16="http://schemas.microsoft.com/office/drawing/2014/main" id="{AC5DE87F-D0D4-7FC1-3C23-C117DFE62625}"/>
              </a:ext>
            </a:extLst>
          </p:cNvPr>
          <p:cNvPicPr>
            <a:picLocks noChangeAspect="1"/>
          </p:cNvPicPr>
          <p:nvPr/>
        </p:nvPicPr>
        <p:blipFill>
          <a:blip r:embed="rId2"/>
          <a:stretch>
            <a:fillRect/>
          </a:stretch>
        </p:blipFill>
        <p:spPr>
          <a:xfrm>
            <a:off x="614142" y="838375"/>
            <a:ext cx="7701183" cy="2305372"/>
          </a:xfrm>
          <a:prstGeom prst="rect">
            <a:avLst/>
          </a:prstGeom>
        </p:spPr>
      </p:pic>
      <p:pic>
        <p:nvPicPr>
          <p:cNvPr id="6" name="Picture 5">
            <a:extLst>
              <a:ext uri="{FF2B5EF4-FFF2-40B4-BE49-F238E27FC236}">
                <a16:creationId xmlns:a16="http://schemas.microsoft.com/office/drawing/2014/main" id="{8C6D3E34-DBA0-833F-11DC-206489F94E57}"/>
              </a:ext>
            </a:extLst>
          </p:cNvPr>
          <p:cNvPicPr>
            <a:picLocks noChangeAspect="1"/>
          </p:cNvPicPr>
          <p:nvPr/>
        </p:nvPicPr>
        <p:blipFill>
          <a:blip r:embed="rId3"/>
          <a:stretch>
            <a:fillRect/>
          </a:stretch>
        </p:blipFill>
        <p:spPr>
          <a:xfrm>
            <a:off x="9172576" y="1742839"/>
            <a:ext cx="2405282" cy="986073"/>
          </a:xfrm>
          <a:prstGeom prst="rect">
            <a:avLst/>
          </a:prstGeom>
        </p:spPr>
      </p:pic>
      <p:sp>
        <p:nvSpPr>
          <p:cNvPr id="7" name="TextBox 6">
            <a:extLst>
              <a:ext uri="{FF2B5EF4-FFF2-40B4-BE49-F238E27FC236}">
                <a16:creationId xmlns:a16="http://schemas.microsoft.com/office/drawing/2014/main" id="{4EC29472-A264-339D-91C0-B40D21E0E4E6}"/>
              </a:ext>
            </a:extLst>
          </p:cNvPr>
          <p:cNvSpPr txBox="1"/>
          <p:nvPr/>
        </p:nvSpPr>
        <p:spPr>
          <a:xfrm>
            <a:off x="9789537" y="1204268"/>
            <a:ext cx="1171359" cy="369332"/>
          </a:xfrm>
          <a:prstGeom prst="rect">
            <a:avLst/>
          </a:prstGeom>
          <a:noFill/>
        </p:spPr>
        <p:txBody>
          <a:bodyPr wrap="square" rtlCol="0">
            <a:spAutoFit/>
          </a:bodyPr>
          <a:lstStyle/>
          <a:p>
            <a:r>
              <a:rPr lang="en-US" u="sng" dirty="0">
                <a:latin typeface="ADLaM Display" panose="02010000000000000000" pitchFamily="2" charset="0"/>
                <a:ea typeface="ADLaM Display" panose="02010000000000000000" pitchFamily="2" charset="0"/>
                <a:cs typeface="ADLaM Display" panose="02010000000000000000" pitchFamily="2" charset="0"/>
              </a:rPr>
              <a:t>Output </a:t>
            </a:r>
            <a:r>
              <a:rPr lang="en-US" dirty="0">
                <a:latin typeface="ADLaM Display" panose="02010000000000000000" pitchFamily="2" charset="0"/>
                <a:ea typeface="ADLaM Display" panose="02010000000000000000" pitchFamily="2" charset="0"/>
                <a:cs typeface="ADLaM Display" panose="02010000000000000000" pitchFamily="2" charset="0"/>
              </a:rPr>
              <a:t>:</a:t>
            </a:r>
            <a:endParaRPr lang="en-US" u="sng"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59DBD200-D435-5D61-A6F1-330D7110C986}"/>
              </a:ext>
            </a:extLst>
          </p:cNvPr>
          <p:cNvSpPr txBox="1"/>
          <p:nvPr/>
        </p:nvSpPr>
        <p:spPr>
          <a:xfrm>
            <a:off x="614143" y="3243759"/>
            <a:ext cx="10963715" cy="64633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average basket size of the </a:t>
            </a:r>
            <a:r>
              <a:rPr lang="en-US" dirty="0" err="1">
                <a:latin typeface="ADLaM Display" panose="02010000000000000000" pitchFamily="2" charset="0"/>
                <a:ea typeface="ADLaM Display" panose="02010000000000000000" pitchFamily="2" charset="0"/>
                <a:cs typeface="ADLaM Display" panose="02010000000000000000" pitchFamily="2" charset="0"/>
              </a:rPr>
              <a:t>UrbanCart</a:t>
            </a:r>
            <a:r>
              <a:rPr lang="en-US" dirty="0">
                <a:latin typeface="ADLaM Display" panose="02010000000000000000" pitchFamily="2" charset="0"/>
                <a:ea typeface="ADLaM Display" panose="02010000000000000000" pitchFamily="2" charset="0"/>
                <a:cs typeface="ADLaM Display" panose="02010000000000000000" pitchFamily="2" charset="0"/>
              </a:rPr>
              <a:t> is 10,  that means per order there are 10 unit of product.</a:t>
            </a:r>
          </a:p>
        </p:txBody>
      </p:sp>
      <p:sp>
        <p:nvSpPr>
          <p:cNvPr id="9" name="TextBox 8">
            <a:extLst>
              <a:ext uri="{FF2B5EF4-FFF2-40B4-BE49-F238E27FC236}">
                <a16:creationId xmlns:a16="http://schemas.microsoft.com/office/drawing/2014/main" id="{BEF97C1D-5BA8-4687-61DA-D040593E3921}"/>
              </a:ext>
            </a:extLst>
          </p:cNvPr>
          <p:cNvSpPr txBox="1"/>
          <p:nvPr/>
        </p:nvSpPr>
        <p:spPr>
          <a:xfrm>
            <a:off x="614142" y="4066383"/>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Male and female customers purchasing patterns by category</a:t>
            </a:r>
          </a:p>
        </p:txBody>
      </p:sp>
      <p:pic>
        <p:nvPicPr>
          <p:cNvPr id="5" name="Picture 4">
            <a:extLst>
              <a:ext uri="{FF2B5EF4-FFF2-40B4-BE49-F238E27FC236}">
                <a16:creationId xmlns:a16="http://schemas.microsoft.com/office/drawing/2014/main" id="{3F64D61F-150E-EC35-2CBD-1CBF9C896D62}"/>
              </a:ext>
            </a:extLst>
          </p:cNvPr>
          <p:cNvPicPr>
            <a:picLocks noChangeAspect="1"/>
          </p:cNvPicPr>
          <p:nvPr/>
        </p:nvPicPr>
        <p:blipFill>
          <a:blip r:embed="rId4"/>
          <a:stretch>
            <a:fillRect/>
          </a:stretch>
        </p:blipFill>
        <p:spPr>
          <a:xfrm>
            <a:off x="1328516" y="4564137"/>
            <a:ext cx="9930033" cy="2179190"/>
          </a:xfrm>
          <a:prstGeom prst="rect">
            <a:avLst/>
          </a:prstGeom>
        </p:spPr>
      </p:pic>
    </p:spTree>
    <p:extLst>
      <p:ext uri="{BB962C8B-B14F-4D97-AF65-F5344CB8AC3E}">
        <p14:creationId xmlns:p14="http://schemas.microsoft.com/office/powerpoint/2010/main" val="392204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EAD85A13-318A-524B-6033-3B6274AB753F}"/>
              </a:ext>
            </a:extLst>
          </p:cNvPr>
          <p:cNvGraphicFramePr>
            <a:graphicFrameLocks/>
          </p:cNvGraphicFramePr>
          <p:nvPr>
            <p:extLst>
              <p:ext uri="{D42A27DB-BD31-4B8C-83A1-F6EECF244321}">
                <p14:modId xmlns:p14="http://schemas.microsoft.com/office/powerpoint/2010/main" val="1392157772"/>
              </p:ext>
            </p:extLst>
          </p:nvPr>
        </p:nvGraphicFramePr>
        <p:xfrm>
          <a:off x="5062538" y="637224"/>
          <a:ext cx="7129462" cy="4371976"/>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BAEA3856-BDDC-F6C5-8363-BD9AF667E144}"/>
              </a:ext>
            </a:extLst>
          </p:cNvPr>
          <p:cNvPicPr>
            <a:picLocks noChangeAspect="1"/>
          </p:cNvPicPr>
          <p:nvPr/>
        </p:nvPicPr>
        <p:blipFill>
          <a:blip r:embed="rId3"/>
          <a:stretch>
            <a:fillRect/>
          </a:stretch>
        </p:blipFill>
        <p:spPr>
          <a:xfrm>
            <a:off x="375894" y="476023"/>
            <a:ext cx="4925112" cy="3277057"/>
          </a:xfrm>
          <a:prstGeom prst="rect">
            <a:avLst/>
          </a:prstGeom>
        </p:spPr>
      </p:pic>
      <p:sp>
        <p:nvSpPr>
          <p:cNvPr id="2" name="TextBox 1">
            <a:extLst>
              <a:ext uri="{FF2B5EF4-FFF2-40B4-BE49-F238E27FC236}">
                <a16:creationId xmlns:a16="http://schemas.microsoft.com/office/drawing/2014/main" id="{C789C8B6-E293-9A68-3333-BC561CB58EE6}"/>
              </a:ext>
            </a:extLst>
          </p:cNvPr>
          <p:cNvSpPr txBox="1"/>
          <p:nvPr/>
        </p:nvSpPr>
        <p:spPr>
          <a:xfrm>
            <a:off x="375894" y="4743448"/>
            <a:ext cx="11363766" cy="1477328"/>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graph shows that, overall, male customers purchase more products than female customers. The products include Grocery, Fashion, Personal Care, Digital, Home Care, Electronics, Dairy, Beverages, Snacks, and Meat. Specifically, males buy more than females in Grocery, Fashion, Personal Care, Digital, and Home Care, in ascending order of difference.</a:t>
            </a:r>
          </a:p>
        </p:txBody>
      </p:sp>
    </p:spTree>
    <p:extLst>
      <p:ext uri="{BB962C8B-B14F-4D97-AF65-F5344CB8AC3E}">
        <p14:creationId xmlns:p14="http://schemas.microsoft.com/office/powerpoint/2010/main" val="396085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889793-88DC-1FE0-DF23-035AAFA7E268}"/>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 The cities which have the highest average order value</a:t>
            </a:r>
          </a:p>
        </p:txBody>
      </p:sp>
      <p:sp>
        <p:nvSpPr>
          <p:cNvPr id="7" name="TextBox 6">
            <a:extLst>
              <a:ext uri="{FF2B5EF4-FFF2-40B4-BE49-F238E27FC236}">
                <a16:creationId xmlns:a16="http://schemas.microsoft.com/office/drawing/2014/main" id="{F32BAA7C-D7D7-0D1E-9787-F10458BBBDB9}"/>
              </a:ext>
            </a:extLst>
          </p:cNvPr>
          <p:cNvSpPr txBox="1"/>
          <p:nvPr/>
        </p:nvSpPr>
        <p:spPr>
          <a:xfrm>
            <a:off x="414117" y="4471361"/>
            <a:ext cx="11363766" cy="1477328"/>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output showing that </a:t>
            </a:r>
            <a:r>
              <a:rPr lang="en-US" dirty="0" err="1">
                <a:latin typeface="ADLaM Display" panose="02010000000000000000" pitchFamily="2" charset="0"/>
                <a:ea typeface="ADLaM Display" panose="02010000000000000000" pitchFamily="2" charset="0"/>
                <a:cs typeface="ADLaM Display" panose="02010000000000000000" pitchFamily="2" charset="0"/>
              </a:rPr>
              <a:t>Rajshahi</a:t>
            </a:r>
            <a:r>
              <a:rPr lang="en-US" dirty="0">
                <a:latin typeface="ADLaM Display" panose="02010000000000000000" pitchFamily="2" charset="0"/>
                <a:ea typeface="ADLaM Display" panose="02010000000000000000" pitchFamily="2" charset="0"/>
                <a:cs typeface="ADLaM Display" panose="02010000000000000000" pitchFamily="2" charset="0"/>
              </a:rPr>
              <a:t> generate highest average order value, following </a:t>
            </a:r>
            <a:r>
              <a:rPr lang="en-US" dirty="0" err="1">
                <a:latin typeface="ADLaM Display" panose="02010000000000000000" pitchFamily="2" charset="0"/>
                <a:ea typeface="ADLaM Display" panose="02010000000000000000" pitchFamily="2" charset="0"/>
                <a:cs typeface="ADLaM Display" panose="02010000000000000000" pitchFamily="2" charset="0"/>
              </a:rPr>
              <a:t>Cumilla</a:t>
            </a:r>
            <a:r>
              <a:rPr lang="en-US" dirty="0">
                <a:latin typeface="ADLaM Display" panose="02010000000000000000" pitchFamily="2" charset="0"/>
                <a:ea typeface="ADLaM Display" panose="02010000000000000000" pitchFamily="2" charset="0"/>
                <a:cs typeface="ADLaM Display" panose="02010000000000000000" pitchFamily="2" charset="0"/>
              </a:rPr>
              <a:t> , and Narayanganj.</a:t>
            </a: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Where all cancelled, completed,  and pending orders are considered. Sylhet and Dhaka generate lowest average order value.</a:t>
            </a:r>
          </a:p>
        </p:txBody>
      </p:sp>
      <p:pic>
        <p:nvPicPr>
          <p:cNvPr id="16" name="Picture 15">
            <a:extLst>
              <a:ext uri="{FF2B5EF4-FFF2-40B4-BE49-F238E27FC236}">
                <a16:creationId xmlns:a16="http://schemas.microsoft.com/office/drawing/2014/main" id="{FDB76C9E-0DBC-636A-1B2D-7CD68AD08062}"/>
              </a:ext>
            </a:extLst>
          </p:cNvPr>
          <p:cNvPicPr>
            <a:picLocks noChangeAspect="1"/>
          </p:cNvPicPr>
          <p:nvPr/>
        </p:nvPicPr>
        <p:blipFill>
          <a:blip r:embed="rId2"/>
          <a:stretch>
            <a:fillRect/>
          </a:stretch>
        </p:blipFill>
        <p:spPr>
          <a:xfrm>
            <a:off x="8668492" y="1123627"/>
            <a:ext cx="2800741" cy="2743583"/>
          </a:xfrm>
          <a:prstGeom prst="rect">
            <a:avLst/>
          </a:prstGeom>
        </p:spPr>
      </p:pic>
      <p:pic>
        <p:nvPicPr>
          <p:cNvPr id="22" name="Picture 21">
            <a:extLst>
              <a:ext uri="{FF2B5EF4-FFF2-40B4-BE49-F238E27FC236}">
                <a16:creationId xmlns:a16="http://schemas.microsoft.com/office/drawing/2014/main" id="{8687318B-6A71-3042-31D1-C7F7D44CF2E9}"/>
              </a:ext>
            </a:extLst>
          </p:cNvPr>
          <p:cNvPicPr>
            <a:picLocks noChangeAspect="1"/>
          </p:cNvPicPr>
          <p:nvPr/>
        </p:nvPicPr>
        <p:blipFill>
          <a:blip r:embed="rId3"/>
          <a:stretch>
            <a:fillRect/>
          </a:stretch>
        </p:blipFill>
        <p:spPr>
          <a:xfrm>
            <a:off x="614142" y="1095049"/>
            <a:ext cx="7729759" cy="2772161"/>
          </a:xfrm>
          <a:prstGeom prst="rect">
            <a:avLst/>
          </a:prstGeom>
        </p:spPr>
      </p:pic>
    </p:spTree>
    <p:extLst>
      <p:ext uri="{BB962C8B-B14F-4D97-AF65-F5344CB8AC3E}">
        <p14:creationId xmlns:p14="http://schemas.microsoft.com/office/powerpoint/2010/main" val="169885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EF2D77-8411-AC2D-9AF4-5F33F711760B}"/>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way customer purchasing behavior change over time since account creation</a:t>
            </a:r>
          </a:p>
        </p:txBody>
      </p:sp>
      <p:pic>
        <p:nvPicPr>
          <p:cNvPr id="4" name="Picture 3">
            <a:extLst>
              <a:ext uri="{FF2B5EF4-FFF2-40B4-BE49-F238E27FC236}">
                <a16:creationId xmlns:a16="http://schemas.microsoft.com/office/drawing/2014/main" id="{5A49AF47-3BA8-2CBF-714B-16CD650126C2}"/>
              </a:ext>
            </a:extLst>
          </p:cNvPr>
          <p:cNvPicPr>
            <a:picLocks noChangeAspect="1"/>
          </p:cNvPicPr>
          <p:nvPr/>
        </p:nvPicPr>
        <p:blipFill>
          <a:blip r:embed="rId2"/>
          <a:stretch>
            <a:fillRect/>
          </a:stretch>
        </p:blipFill>
        <p:spPr>
          <a:xfrm>
            <a:off x="7672389" y="890259"/>
            <a:ext cx="3905470" cy="5592856"/>
          </a:xfrm>
          <a:prstGeom prst="rect">
            <a:avLst/>
          </a:prstGeom>
        </p:spPr>
      </p:pic>
      <p:pic>
        <p:nvPicPr>
          <p:cNvPr id="6" name="Picture 5">
            <a:extLst>
              <a:ext uri="{FF2B5EF4-FFF2-40B4-BE49-F238E27FC236}">
                <a16:creationId xmlns:a16="http://schemas.microsoft.com/office/drawing/2014/main" id="{42A39D2D-FC92-6A73-72A0-23A28FD3F552}"/>
              </a:ext>
            </a:extLst>
          </p:cNvPr>
          <p:cNvPicPr>
            <a:picLocks noChangeAspect="1"/>
          </p:cNvPicPr>
          <p:nvPr/>
        </p:nvPicPr>
        <p:blipFill>
          <a:blip r:embed="rId3"/>
          <a:stretch>
            <a:fillRect/>
          </a:stretch>
        </p:blipFill>
        <p:spPr>
          <a:xfrm>
            <a:off x="614141" y="890259"/>
            <a:ext cx="6858222" cy="3024516"/>
          </a:xfrm>
          <a:prstGeom prst="rect">
            <a:avLst/>
          </a:prstGeom>
        </p:spPr>
      </p:pic>
      <p:sp>
        <p:nvSpPr>
          <p:cNvPr id="7" name="TextBox 6">
            <a:extLst>
              <a:ext uri="{FF2B5EF4-FFF2-40B4-BE49-F238E27FC236}">
                <a16:creationId xmlns:a16="http://schemas.microsoft.com/office/drawing/2014/main" id="{6CB27851-58F3-9BCE-72F6-DE62C4C10187}"/>
              </a:ext>
            </a:extLst>
          </p:cNvPr>
          <p:cNvSpPr txBox="1"/>
          <p:nvPr/>
        </p:nvSpPr>
        <p:spPr>
          <a:xfrm>
            <a:off x="414117" y="4471361"/>
            <a:ext cx="6858222" cy="2031325"/>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output shows customers grouped by their account creation date and their arrivals over the next three months. For example, customers who created an account on 2025-09-14 had 12 out of 13 arrivals in the first month, all 13 in the second month, and 8 in the third month. Similar patterns are displayed for other account creation dates.</a:t>
            </a:r>
          </a:p>
        </p:txBody>
      </p:sp>
    </p:spTree>
    <p:extLst>
      <p:ext uri="{BB962C8B-B14F-4D97-AF65-F5344CB8AC3E}">
        <p14:creationId xmlns:p14="http://schemas.microsoft.com/office/powerpoint/2010/main" val="332051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7E0FAD-D325-411A-BE9A-9C57BC9105F4}"/>
              </a:ext>
            </a:extLst>
          </p:cNvPr>
          <p:cNvPicPr>
            <a:picLocks noChangeAspect="1"/>
          </p:cNvPicPr>
          <p:nvPr/>
        </p:nvPicPr>
        <p:blipFill>
          <a:blip r:embed="rId2"/>
          <a:stretch>
            <a:fillRect/>
          </a:stretch>
        </p:blipFill>
        <p:spPr>
          <a:xfrm>
            <a:off x="614142" y="1076234"/>
            <a:ext cx="6643908" cy="1909854"/>
          </a:xfrm>
          <a:prstGeom prst="rect">
            <a:avLst/>
          </a:prstGeom>
        </p:spPr>
      </p:pic>
      <p:pic>
        <p:nvPicPr>
          <p:cNvPr id="5" name="Picture 4">
            <a:extLst>
              <a:ext uri="{FF2B5EF4-FFF2-40B4-BE49-F238E27FC236}">
                <a16:creationId xmlns:a16="http://schemas.microsoft.com/office/drawing/2014/main" id="{D2C9C633-1911-4C9F-B258-1F18BBFB99F0}"/>
              </a:ext>
            </a:extLst>
          </p:cNvPr>
          <p:cNvPicPr>
            <a:picLocks noChangeAspect="1"/>
          </p:cNvPicPr>
          <p:nvPr/>
        </p:nvPicPr>
        <p:blipFill>
          <a:blip r:embed="rId3"/>
          <a:stretch>
            <a:fillRect/>
          </a:stretch>
        </p:blipFill>
        <p:spPr>
          <a:xfrm>
            <a:off x="7629525" y="1076234"/>
            <a:ext cx="3286125" cy="1909854"/>
          </a:xfrm>
          <a:prstGeom prst="rect">
            <a:avLst/>
          </a:prstGeom>
        </p:spPr>
      </p:pic>
      <p:sp>
        <p:nvSpPr>
          <p:cNvPr id="6" name="TextBox 5">
            <a:extLst>
              <a:ext uri="{FF2B5EF4-FFF2-40B4-BE49-F238E27FC236}">
                <a16:creationId xmlns:a16="http://schemas.microsoft.com/office/drawing/2014/main" id="{9BC3A10B-D09B-6C3D-F38D-7EC229712585}"/>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payment methods are used most frequently</a:t>
            </a:r>
          </a:p>
        </p:txBody>
      </p:sp>
      <p:graphicFrame>
        <p:nvGraphicFramePr>
          <p:cNvPr id="7" name="Chart 6">
            <a:extLst>
              <a:ext uri="{FF2B5EF4-FFF2-40B4-BE49-F238E27FC236}">
                <a16:creationId xmlns:a16="http://schemas.microsoft.com/office/drawing/2014/main" id="{5BB3AB43-606A-0F90-CC2B-BD7C44CAA957}"/>
              </a:ext>
            </a:extLst>
          </p:cNvPr>
          <p:cNvGraphicFramePr>
            <a:graphicFrameLocks/>
          </p:cNvGraphicFramePr>
          <p:nvPr>
            <p:extLst>
              <p:ext uri="{D42A27DB-BD31-4B8C-83A1-F6EECF244321}">
                <p14:modId xmlns:p14="http://schemas.microsoft.com/office/powerpoint/2010/main" val="755726312"/>
              </p:ext>
            </p:extLst>
          </p:nvPr>
        </p:nvGraphicFramePr>
        <p:xfrm>
          <a:off x="7258049" y="3557588"/>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115D6386-C3D9-01BD-27DE-95FCAEBDA60D}"/>
              </a:ext>
            </a:extLst>
          </p:cNvPr>
          <p:cNvSpPr txBox="1"/>
          <p:nvPr/>
        </p:nvSpPr>
        <p:spPr>
          <a:xfrm>
            <a:off x="614140" y="3348883"/>
            <a:ext cx="6643909" cy="2585323"/>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The output and corresponding bar chart indicate that Cash on Delivery is the most popular payment method, with 391 orders. </a:t>
            </a:r>
            <a:r>
              <a:rPr lang="en-US" dirty="0" err="1">
                <a:latin typeface="ADLaM Display" panose="02010000000000000000" pitchFamily="2" charset="0"/>
                <a:ea typeface="ADLaM Display" panose="02010000000000000000" pitchFamily="2" charset="0"/>
                <a:cs typeface="ADLaM Display" panose="02010000000000000000" pitchFamily="2" charset="0"/>
              </a:rPr>
              <a:t>Bkash</a:t>
            </a:r>
            <a:r>
              <a:rPr lang="en-US" dirty="0">
                <a:latin typeface="ADLaM Display" panose="02010000000000000000" pitchFamily="2" charset="0"/>
                <a:ea typeface="ADLaM Display" panose="02010000000000000000" pitchFamily="2" charset="0"/>
                <a:cs typeface="ADLaM Display" panose="02010000000000000000" pitchFamily="2" charset="0"/>
              </a:rPr>
              <a:t> follows in second place with 276 orders, while Nagad accounts for 188 orders. Credit Card and Debit Card payments are the least used, with 54 and 45 orders, respectively. </a:t>
            </a:r>
          </a:p>
          <a:p>
            <a:pPr algn="just"/>
            <a:r>
              <a:rPr lang="en-US" dirty="0">
                <a:latin typeface="ADLaM Display" panose="02010000000000000000" pitchFamily="2" charset="0"/>
                <a:ea typeface="ADLaM Display" panose="02010000000000000000" pitchFamily="2" charset="0"/>
                <a:cs typeface="ADLaM Display" panose="02010000000000000000" pitchFamily="2" charset="0"/>
              </a:rPr>
              <a:t>Cancelled orders are not included in this analysis.</a:t>
            </a: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16992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A29B3-733B-6A98-8602-BF7979768EE3}"/>
              </a:ext>
            </a:extLst>
          </p:cNvPr>
          <p:cNvPicPr>
            <a:picLocks noChangeAspect="1"/>
          </p:cNvPicPr>
          <p:nvPr/>
        </p:nvPicPr>
        <p:blipFill>
          <a:blip r:embed="rId2"/>
          <a:stretch>
            <a:fillRect/>
          </a:stretch>
        </p:blipFill>
        <p:spPr>
          <a:xfrm>
            <a:off x="314874" y="1026067"/>
            <a:ext cx="6858957" cy="2860133"/>
          </a:xfrm>
          <a:prstGeom prst="rect">
            <a:avLst/>
          </a:prstGeom>
        </p:spPr>
      </p:pic>
      <p:pic>
        <p:nvPicPr>
          <p:cNvPr id="5" name="Picture 4">
            <a:extLst>
              <a:ext uri="{FF2B5EF4-FFF2-40B4-BE49-F238E27FC236}">
                <a16:creationId xmlns:a16="http://schemas.microsoft.com/office/drawing/2014/main" id="{FE907023-73CE-0E14-A667-6BB0293A69EB}"/>
              </a:ext>
            </a:extLst>
          </p:cNvPr>
          <p:cNvPicPr>
            <a:picLocks noChangeAspect="1"/>
          </p:cNvPicPr>
          <p:nvPr/>
        </p:nvPicPr>
        <p:blipFill>
          <a:blip r:embed="rId3"/>
          <a:stretch>
            <a:fillRect/>
          </a:stretch>
        </p:blipFill>
        <p:spPr>
          <a:xfrm>
            <a:off x="314875" y="4198828"/>
            <a:ext cx="4555844" cy="1633105"/>
          </a:xfrm>
          <a:prstGeom prst="rect">
            <a:avLst/>
          </a:prstGeom>
        </p:spPr>
      </p:pic>
      <p:sp>
        <p:nvSpPr>
          <p:cNvPr id="6" name="TextBox 5">
            <a:extLst>
              <a:ext uri="{FF2B5EF4-FFF2-40B4-BE49-F238E27FC236}">
                <a16:creationId xmlns:a16="http://schemas.microsoft.com/office/drawing/2014/main" id="{09B7A82C-7223-B4FF-78C9-07D47EB631C0}"/>
              </a:ext>
            </a:extLst>
          </p:cNvPr>
          <p:cNvSpPr txBox="1"/>
          <p:nvPr/>
        </p:nvSpPr>
        <p:spPr>
          <a:xfrm>
            <a:off x="614142" y="374885"/>
            <a:ext cx="10963716"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Relation between payment method and order status:</a:t>
            </a:r>
          </a:p>
        </p:txBody>
      </p:sp>
      <p:graphicFrame>
        <p:nvGraphicFramePr>
          <p:cNvPr id="7" name="Chart 6">
            <a:extLst>
              <a:ext uri="{FF2B5EF4-FFF2-40B4-BE49-F238E27FC236}">
                <a16:creationId xmlns:a16="http://schemas.microsoft.com/office/drawing/2014/main" id="{2A33E0B1-1E97-41E9-46BC-73D9309C092C}"/>
              </a:ext>
            </a:extLst>
          </p:cNvPr>
          <p:cNvGraphicFramePr>
            <a:graphicFrameLocks/>
          </p:cNvGraphicFramePr>
          <p:nvPr>
            <p:extLst>
              <p:ext uri="{D42A27DB-BD31-4B8C-83A1-F6EECF244321}">
                <p14:modId xmlns:p14="http://schemas.microsoft.com/office/powerpoint/2010/main" val="3884380751"/>
              </p:ext>
            </p:extLst>
          </p:nvPr>
        </p:nvGraphicFramePr>
        <p:xfrm>
          <a:off x="7362497" y="1056943"/>
          <a:ext cx="4650827" cy="3089387"/>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D7C6C409-5567-80D2-479E-AFFA9CCC33EC}"/>
              </a:ext>
            </a:extLst>
          </p:cNvPr>
          <p:cNvSpPr txBox="1"/>
          <p:nvPr/>
        </p:nvSpPr>
        <p:spPr>
          <a:xfrm>
            <a:off x="5006917" y="4146330"/>
            <a:ext cx="6870209" cy="209288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sz="1200" dirty="0">
                <a:latin typeface="ADLaM Display" panose="02010000000000000000" pitchFamily="2" charset="0"/>
                <a:ea typeface="ADLaM Display" panose="02010000000000000000" pitchFamily="2" charset="0"/>
                <a:cs typeface="ADLaM Display" panose="02010000000000000000" pitchFamily="2" charset="0"/>
              </a:rPr>
              <a:t>In</a:t>
            </a:r>
            <a:r>
              <a:rPr lang="en-US" sz="1400" dirty="0">
                <a:latin typeface="ADLaM Display" panose="02010000000000000000" pitchFamily="2" charset="0"/>
                <a:ea typeface="ADLaM Display" panose="02010000000000000000" pitchFamily="2" charset="0"/>
                <a:cs typeface="ADLaM Display" panose="02010000000000000000" pitchFamily="2" charset="0"/>
              </a:rPr>
              <a:t> the clustered column chart, Cash on Delivery (COD) has the highest number of completed orders, but it also shows a large number of cancelled orders. A similar pattern is observed for </a:t>
            </a:r>
            <a:r>
              <a:rPr lang="en-US" sz="14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400" dirty="0">
                <a:latin typeface="ADLaM Display" panose="02010000000000000000" pitchFamily="2" charset="0"/>
                <a:ea typeface="ADLaM Display" panose="02010000000000000000" pitchFamily="2" charset="0"/>
                <a:cs typeface="ADLaM Display" panose="02010000000000000000" pitchFamily="2" charset="0"/>
              </a:rPr>
              <a:t> and Nagad, although both have relatively similar proportions of completed, cancelled, and pending orders. This indicates that COD is associated with a higher number of cancelled orders, suggesting a relationship between payment method and order status. To determine whether this relationship is statistically significant, a Chi-square test should be conducted..</a:t>
            </a:r>
          </a:p>
        </p:txBody>
      </p:sp>
    </p:spTree>
    <p:extLst>
      <p:ext uri="{BB962C8B-B14F-4D97-AF65-F5344CB8AC3E}">
        <p14:creationId xmlns:p14="http://schemas.microsoft.com/office/powerpoint/2010/main" val="211649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E9F22A-3FD5-D44D-9B82-452088CEB95A}"/>
              </a:ext>
            </a:extLst>
          </p:cNvPr>
          <p:cNvPicPr>
            <a:picLocks noChangeAspect="1"/>
          </p:cNvPicPr>
          <p:nvPr/>
        </p:nvPicPr>
        <p:blipFill>
          <a:blip r:embed="rId2"/>
          <a:stretch>
            <a:fillRect/>
          </a:stretch>
        </p:blipFill>
        <p:spPr>
          <a:xfrm>
            <a:off x="542923" y="938899"/>
            <a:ext cx="10801351" cy="2706125"/>
          </a:xfrm>
          <a:prstGeom prst="rect">
            <a:avLst/>
          </a:prstGeom>
        </p:spPr>
      </p:pic>
      <p:sp>
        <p:nvSpPr>
          <p:cNvPr id="4" name="TextBox 3">
            <a:extLst>
              <a:ext uri="{FF2B5EF4-FFF2-40B4-BE49-F238E27FC236}">
                <a16:creationId xmlns:a16="http://schemas.microsoft.com/office/drawing/2014/main" id="{6919473A-220C-A07F-4C5B-6D8351D6667B}"/>
              </a:ext>
            </a:extLst>
          </p:cNvPr>
          <p:cNvSpPr txBox="1"/>
          <p:nvPr/>
        </p:nvSpPr>
        <p:spPr>
          <a:xfrm>
            <a:off x="542924" y="38576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 Payment Method Preferences Across Cities:</a:t>
            </a:r>
          </a:p>
        </p:txBody>
      </p:sp>
      <p:pic>
        <p:nvPicPr>
          <p:cNvPr id="6" name="Picture 5">
            <a:extLst>
              <a:ext uri="{FF2B5EF4-FFF2-40B4-BE49-F238E27FC236}">
                <a16:creationId xmlns:a16="http://schemas.microsoft.com/office/drawing/2014/main" id="{2A079CB1-24C8-9D36-BF52-47137BEE5D0B}"/>
              </a:ext>
            </a:extLst>
          </p:cNvPr>
          <p:cNvPicPr>
            <a:picLocks noChangeAspect="1"/>
          </p:cNvPicPr>
          <p:nvPr/>
        </p:nvPicPr>
        <p:blipFill>
          <a:blip r:embed="rId3"/>
          <a:stretch>
            <a:fillRect/>
          </a:stretch>
        </p:blipFill>
        <p:spPr>
          <a:xfrm>
            <a:off x="542924" y="3859607"/>
            <a:ext cx="5951461" cy="2798368"/>
          </a:xfrm>
          <a:prstGeom prst="rect">
            <a:avLst/>
          </a:prstGeom>
        </p:spPr>
      </p:pic>
      <p:sp>
        <p:nvSpPr>
          <p:cNvPr id="7" name="TextBox 6">
            <a:extLst>
              <a:ext uri="{FF2B5EF4-FFF2-40B4-BE49-F238E27FC236}">
                <a16:creationId xmlns:a16="http://schemas.microsoft.com/office/drawing/2014/main" id="{6958857F-0FE3-CA4C-FF10-E50494DEE4C9}"/>
              </a:ext>
            </a:extLst>
          </p:cNvPr>
          <p:cNvSpPr txBox="1"/>
          <p:nvPr/>
        </p:nvSpPr>
        <p:spPr>
          <a:xfrm>
            <a:off x="6860770" y="3951849"/>
            <a:ext cx="4900063" cy="261610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The query output shows that, overall, most cities prefer Cash on Delivery (COD), followed by </a:t>
            </a:r>
            <a:r>
              <a:rPr lang="en-US" sz="16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600" dirty="0">
                <a:latin typeface="ADLaM Display" panose="02010000000000000000" pitchFamily="2" charset="0"/>
                <a:ea typeface="ADLaM Display" panose="02010000000000000000" pitchFamily="2" charset="0"/>
                <a:cs typeface="ADLaM Display" panose="02010000000000000000" pitchFamily="2" charset="0"/>
              </a:rPr>
              <a:t> and then Nagad. However, there are some city-specific variations: people in Dhaka prefer </a:t>
            </a:r>
            <a:r>
              <a:rPr lang="en-US" sz="16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600" dirty="0">
                <a:latin typeface="ADLaM Display" panose="02010000000000000000" pitchFamily="2" charset="0"/>
                <a:ea typeface="ADLaM Display" panose="02010000000000000000" pitchFamily="2" charset="0"/>
                <a:cs typeface="ADLaM Display" panose="02010000000000000000" pitchFamily="2" charset="0"/>
              </a:rPr>
              <a:t> over COD, while Gazipur residents use COD and </a:t>
            </a:r>
            <a:r>
              <a:rPr lang="en-US" sz="16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600" dirty="0">
                <a:latin typeface="ADLaM Display" panose="02010000000000000000" pitchFamily="2" charset="0"/>
                <a:ea typeface="ADLaM Display" panose="02010000000000000000" pitchFamily="2" charset="0"/>
                <a:cs typeface="ADLaM Display" panose="02010000000000000000" pitchFamily="2" charset="0"/>
              </a:rPr>
              <a:t> in nearly equal proportions. The use of Debit Card and Credit Card remains low across all cities.</a:t>
            </a: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56796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823E5F1-227C-ABE9-3BEE-3CD011DC5509}"/>
              </a:ext>
            </a:extLst>
          </p:cNvPr>
          <p:cNvSpPr txBox="1"/>
          <p:nvPr/>
        </p:nvSpPr>
        <p:spPr>
          <a:xfrm>
            <a:off x="487045" y="27480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Association between high-value-order and specific payment method:</a:t>
            </a:r>
          </a:p>
        </p:txBody>
      </p:sp>
      <p:sp>
        <p:nvSpPr>
          <p:cNvPr id="7" name="TextBox 6">
            <a:extLst>
              <a:ext uri="{FF2B5EF4-FFF2-40B4-BE49-F238E27FC236}">
                <a16:creationId xmlns:a16="http://schemas.microsoft.com/office/drawing/2014/main" id="{DB3087CD-3F5E-05F5-2CCE-7DA916285D4F}"/>
              </a:ext>
            </a:extLst>
          </p:cNvPr>
          <p:cNvSpPr txBox="1"/>
          <p:nvPr/>
        </p:nvSpPr>
        <p:spPr>
          <a:xfrm>
            <a:off x="7402196" y="2074783"/>
            <a:ext cx="4445633" cy="3077766"/>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Here in the output of the SQL query, it is shown that large number of the high value orders are ordered through COD than others method. Though in all types of order are most of the time used through COD. Among all orders of high value 76 used COD, 52 used </a:t>
            </a:r>
            <a:r>
              <a:rPr lang="en-US" sz="16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600" dirty="0">
                <a:latin typeface="ADLaM Display" panose="02010000000000000000" pitchFamily="2" charset="0"/>
                <a:ea typeface="ADLaM Display" panose="02010000000000000000" pitchFamily="2" charset="0"/>
                <a:cs typeface="ADLaM Display" panose="02010000000000000000" pitchFamily="2" charset="0"/>
              </a:rPr>
              <a:t>, 42 used Nagad, only 23 used credit/debit card, so maybe there is some association. To assessing the significance, a chi-square test should be done.</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9" name="Picture 8">
            <a:extLst>
              <a:ext uri="{FF2B5EF4-FFF2-40B4-BE49-F238E27FC236}">
                <a16:creationId xmlns:a16="http://schemas.microsoft.com/office/drawing/2014/main" id="{6491B6EF-8F42-66C6-C53C-96745524B943}"/>
              </a:ext>
            </a:extLst>
          </p:cNvPr>
          <p:cNvPicPr>
            <a:picLocks noChangeAspect="1"/>
          </p:cNvPicPr>
          <p:nvPr/>
        </p:nvPicPr>
        <p:blipFill>
          <a:blip r:embed="rId2"/>
          <a:stretch>
            <a:fillRect/>
          </a:stretch>
        </p:blipFill>
        <p:spPr>
          <a:xfrm>
            <a:off x="483421" y="819941"/>
            <a:ext cx="6543725" cy="4066383"/>
          </a:xfrm>
          <a:prstGeom prst="rect">
            <a:avLst/>
          </a:prstGeom>
        </p:spPr>
      </p:pic>
      <p:pic>
        <p:nvPicPr>
          <p:cNvPr id="11" name="Picture 10">
            <a:extLst>
              <a:ext uri="{FF2B5EF4-FFF2-40B4-BE49-F238E27FC236}">
                <a16:creationId xmlns:a16="http://schemas.microsoft.com/office/drawing/2014/main" id="{E2A6F5C3-3A5F-1C9D-7705-99C23AF766A0}"/>
              </a:ext>
            </a:extLst>
          </p:cNvPr>
          <p:cNvPicPr>
            <a:picLocks noChangeAspect="1"/>
          </p:cNvPicPr>
          <p:nvPr/>
        </p:nvPicPr>
        <p:blipFill>
          <a:blip r:embed="rId3"/>
          <a:stretch>
            <a:fillRect/>
          </a:stretch>
        </p:blipFill>
        <p:spPr>
          <a:xfrm>
            <a:off x="483421" y="5030405"/>
            <a:ext cx="6543725" cy="1552792"/>
          </a:xfrm>
          <a:prstGeom prst="rect">
            <a:avLst/>
          </a:prstGeom>
        </p:spPr>
      </p:pic>
    </p:spTree>
    <p:extLst>
      <p:ext uri="{BB962C8B-B14F-4D97-AF65-F5344CB8AC3E}">
        <p14:creationId xmlns:p14="http://schemas.microsoft.com/office/powerpoint/2010/main" val="254399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32FF38-A22A-1909-B21A-3C5272915B19}"/>
              </a:ext>
            </a:extLst>
          </p:cNvPr>
          <p:cNvPicPr>
            <a:picLocks noChangeAspect="1"/>
          </p:cNvPicPr>
          <p:nvPr/>
        </p:nvPicPr>
        <p:blipFill>
          <a:blip r:embed="rId2"/>
          <a:stretch>
            <a:fillRect/>
          </a:stretch>
        </p:blipFill>
        <p:spPr>
          <a:xfrm>
            <a:off x="487045" y="976228"/>
            <a:ext cx="6849431" cy="1991824"/>
          </a:xfrm>
          <a:prstGeom prst="rect">
            <a:avLst/>
          </a:prstGeom>
        </p:spPr>
      </p:pic>
      <p:sp>
        <p:nvSpPr>
          <p:cNvPr id="4" name="TextBox 3">
            <a:extLst>
              <a:ext uri="{FF2B5EF4-FFF2-40B4-BE49-F238E27FC236}">
                <a16:creationId xmlns:a16="http://schemas.microsoft.com/office/drawing/2014/main" id="{1778265A-531B-DD6A-4BAA-2A84806DA152}"/>
              </a:ext>
            </a:extLst>
          </p:cNvPr>
          <p:cNvSpPr txBox="1"/>
          <p:nvPr/>
        </p:nvSpPr>
        <p:spPr>
          <a:xfrm>
            <a:off x="487045" y="27480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average number of items per order by payment metho</a:t>
            </a:r>
          </a:p>
        </p:txBody>
      </p:sp>
      <p:pic>
        <p:nvPicPr>
          <p:cNvPr id="6" name="Picture 5">
            <a:extLst>
              <a:ext uri="{FF2B5EF4-FFF2-40B4-BE49-F238E27FC236}">
                <a16:creationId xmlns:a16="http://schemas.microsoft.com/office/drawing/2014/main" id="{7F207AB3-E7FC-B17F-D58A-53E6CB7A58F2}"/>
              </a:ext>
            </a:extLst>
          </p:cNvPr>
          <p:cNvPicPr>
            <a:picLocks noChangeAspect="1"/>
          </p:cNvPicPr>
          <p:nvPr/>
        </p:nvPicPr>
        <p:blipFill>
          <a:blip r:embed="rId3"/>
          <a:stretch>
            <a:fillRect/>
          </a:stretch>
        </p:blipFill>
        <p:spPr>
          <a:xfrm>
            <a:off x="7852766" y="976228"/>
            <a:ext cx="3627335" cy="2141726"/>
          </a:xfrm>
          <a:prstGeom prst="rect">
            <a:avLst/>
          </a:prstGeom>
        </p:spPr>
      </p:pic>
      <p:graphicFrame>
        <p:nvGraphicFramePr>
          <p:cNvPr id="7" name="Chart 6">
            <a:extLst>
              <a:ext uri="{FF2B5EF4-FFF2-40B4-BE49-F238E27FC236}">
                <a16:creationId xmlns:a16="http://schemas.microsoft.com/office/drawing/2014/main" id="{75B812BB-0193-1A4E-6D46-17719AA573A0}"/>
              </a:ext>
            </a:extLst>
          </p:cNvPr>
          <p:cNvGraphicFramePr>
            <a:graphicFrameLocks/>
          </p:cNvGraphicFramePr>
          <p:nvPr>
            <p:extLst>
              <p:ext uri="{D42A27DB-BD31-4B8C-83A1-F6EECF244321}">
                <p14:modId xmlns:p14="http://schemas.microsoft.com/office/powerpoint/2010/main" val="1208326673"/>
              </p:ext>
            </p:extLst>
          </p:nvPr>
        </p:nvGraphicFramePr>
        <p:xfrm>
          <a:off x="681037" y="3117954"/>
          <a:ext cx="5019675" cy="3297134"/>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6203038A-4E51-6A00-626E-6DB76A6BA37C}"/>
              </a:ext>
            </a:extLst>
          </p:cNvPr>
          <p:cNvSpPr txBox="1"/>
          <p:nvPr/>
        </p:nvSpPr>
        <p:spPr>
          <a:xfrm>
            <a:off x="6324599" y="3562580"/>
            <a:ext cx="4445633" cy="2369880"/>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Her in the chart it is clearly shows that the person who use Debit Card have height  average items in order (10.51), the second position takes, Nagad , where it’s average items per order is 10.11, the lowest average items per order is in </a:t>
            </a:r>
            <a:r>
              <a:rPr lang="en-US" sz="1600" dirty="0" err="1">
                <a:latin typeface="ADLaM Display" panose="02010000000000000000" pitchFamily="2" charset="0"/>
                <a:ea typeface="ADLaM Display" panose="02010000000000000000" pitchFamily="2" charset="0"/>
                <a:cs typeface="ADLaM Display" panose="02010000000000000000" pitchFamily="2" charset="0"/>
              </a:rPr>
              <a:t>Bkash</a:t>
            </a:r>
            <a:r>
              <a:rPr lang="en-US" sz="1600" dirty="0">
                <a:latin typeface="ADLaM Display" panose="02010000000000000000" pitchFamily="2" charset="0"/>
                <a:ea typeface="ADLaM Display" panose="02010000000000000000" pitchFamily="2" charset="0"/>
                <a:cs typeface="ADLaM Display" panose="02010000000000000000" pitchFamily="2" charset="0"/>
              </a:rPr>
              <a:t>  that is 9.82.</a:t>
            </a:r>
          </a:p>
          <a:p>
            <a:pPr algn="just"/>
            <a:endParaRPr lang="en-US" sz="1600" dirty="0">
              <a:latin typeface="ADLaM Display" panose="02010000000000000000" pitchFamily="2" charset="0"/>
              <a:ea typeface="ADLaM Display" panose="02010000000000000000" pitchFamily="2" charset="0"/>
              <a:cs typeface="ADLaM Display" panose="02010000000000000000" pitchFamily="2" charset="0"/>
            </a:endParaRP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59783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C1A5C4-16AB-54DA-27A7-B326A00F52A7}"/>
              </a:ext>
            </a:extLst>
          </p:cNvPr>
          <p:cNvSpPr txBox="1"/>
          <p:nvPr/>
        </p:nvSpPr>
        <p:spPr>
          <a:xfrm>
            <a:off x="487045" y="27480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products are most frequently ordered together</a:t>
            </a:r>
          </a:p>
        </p:txBody>
      </p:sp>
      <p:pic>
        <p:nvPicPr>
          <p:cNvPr id="4" name="Picture 3">
            <a:extLst>
              <a:ext uri="{FF2B5EF4-FFF2-40B4-BE49-F238E27FC236}">
                <a16:creationId xmlns:a16="http://schemas.microsoft.com/office/drawing/2014/main" id="{F31BF8E6-1100-B879-B89A-34D36C843564}"/>
              </a:ext>
            </a:extLst>
          </p:cNvPr>
          <p:cNvPicPr>
            <a:picLocks noChangeAspect="1"/>
          </p:cNvPicPr>
          <p:nvPr/>
        </p:nvPicPr>
        <p:blipFill>
          <a:blip r:embed="rId3"/>
          <a:stretch>
            <a:fillRect/>
          </a:stretch>
        </p:blipFill>
        <p:spPr>
          <a:xfrm>
            <a:off x="345155" y="970103"/>
            <a:ext cx="8685529" cy="2695951"/>
          </a:xfrm>
          <a:prstGeom prst="rect">
            <a:avLst/>
          </a:prstGeom>
        </p:spPr>
      </p:pic>
      <p:pic>
        <p:nvPicPr>
          <p:cNvPr id="6" name="Picture 5">
            <a:extLst>
              <a:ext uri="{FF2B5EF4-FFF2-40B4-BE49-F238E27FC236}">
                <a16:creationId xmlns:a16="http://schemas.microsoft.com/office/drawing/2014/main" id="{6572D4B9-2122-ED9F-71E8-C7D652DFB3F4}"/>
              </a:ext>
            </a:extLst>
          </p:cNvPr>
          <p:cNvPicPr>
            <a:picLocks noChangeAspect="1"/>
          </p:cNvPicPr>
          <p:nvPr/>
        </p:nvPicPr>
        <p:blipFill>
          <a:blip r:embed="rId4"/>
          <a:stretch>
            <a:fillRect/>
          </a:stretch>
        </p:blipFill>
        <p:spPr>
          <a:xfrm>
            <a:off x="5694922" y="1635971"/>
            <a:ext cx="6292127" cy="4947226"/>
          </a:xfrm>
          <a:prstGeom prst="rect">
            <a:avLst/>
          </a:prstGeom>
        </p:spPr>
      </p:pic>
      <p:sp>
        <p:nvSpPr>
          <p:cNvPr id="7" name="TextBox 6">
            <a:extLst>
              <a:ext uri="{FF2B5EF4-FFF2-40B4-BE49-F238E27FC236}">
                <a16:creationId xmlns:a16="http://schemas.microsoft.com/office/drawing/2014/main" id="{08B6E5D3-41EF-26C7-A051-94E29A18FD6E}"/>
              </a:ext>
            </a:extLst>
          </p:cNvPr>
          <p:cNvSpPr txBox="1"/>
          <p:nvPr/>
        </p:nvSpPr>
        <p:spPr>
          <a:xfrm>
            <a:off x="345155" y="3925062"/>
            <a:ext cx="4897701" cy="2616101"/>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Here in the SQL query output found the top 18 pair of products that bought most frequently together. Here Potato 1kg, Peanut 500g bought together in 22 times, then in the second position Potato 1kg and Farm Fresh Milk 1L bought 21  times, then  there are some products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 that bought 18  times together and rest of them are showed in the output table.</a:t>
            </a:r>
          </a:p>
          <a:p>
            <a:pPr algn="just"/>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51203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D23C16-5E01-712D-CE8C-50A1979B3A2D}"/>
              </a:ext>
            </a:extLst>
          </p:cNvPr>
          <p:cNvPicPr>
            <a:picLocks noChangeAspect="1"/>
          </p:cNvPicPr>
          <p:nvPr/>
        </p:nvPicPr>
        <p:blipFill>
          <a:blip r:embed="rId2"/>
          <a:stretch>
            <a:fillRect/>
          </a:stretch>
        </p:blipFill>
        <p:spPr>
          <a:xfrm>
            <a:off x="314479" y="889379"/>
            <a:ext cx="5944430" cy="3219899"/>
          </a:xfrm>
          <a:prstGeom prst="rect">
            <a:avLst/>
          </a:prstGeom>
        </p:spPr>
      </p:pic>
      <p:sp>
        <p:nvSpPr>
          <p:cNvPr id="4" name="TextBox 3">
            <a:extLst>
              <a:ext uri="{FF2B5EF4-FFF2-40B4-BE49-F238E27FC236}">
                <a16:creationId xmlns:a16="http://schemas.microsoft.com/office/drawing/2014/main" id="{8710E6FD-24C4-06A6-C302-90A3D0A8E4CF}"/>
              </a:ext>
            </a:extLst>
          </p:cNvPr>
          <p:cNvSpPr txBox="1"/>
          <p:nvPr/>
        </p:nvSpPr>
        <p:spPr>
          <a:xfrm>
            <a:off x="487045" y="27480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product pairs appear most often across all orders</a:t>
            </a:r>
          </a:p>
        </p:txBody>
      </p:sp>
      <p:pic>
        <p:nvPicPr>
          <p:cNvPr id="6" name="Picture 5">
            <a:extLst>
              <a:ext uri="{FF2B5EF4-FFF2-40B4-BE49-F238E27FC236}">
                <a16:creationId xmlns:a16="http://schemas.microsoft.com/office/drawing/2014/main" id="{9F2967B8-945F-D6FB-F8C2-C0C6266C753A}"/>
              </a:ext>
            </a:extLst>
          </p:cNvPr>
          <p:cNvPicPr>
            <a:picLocks noChangeAspect="1"/>
          </p:cNvPicPr>
          <p:nvPr/>
        </p:nvPicPr>
        <p:blipFill>
          <a:blip r:embed="rId3"/>
          <a:stretch>
            <a:fillRect/>
          </a:stretch>
        </p:blipFill>
        <p:spPr>
          <a:xfrm>
            <a:off x="6258909" y="889379"/>
            <a:ext cx="5781521" cy="5464124"/>
          </a:xfrm>
          <a:prstGeom prst="rect">
            <a:avLst/>
          </a:prstGeom>
        </p:spPr>
      </p:pic>
      <p:sp>
        <p:nvSpPr>
          <p:cNvPr id="2" name="TextBox 1">
            <a:extLst>
              <a:ext uri="{FF2B5EF4-FFF2-40B4-BE49-F238E27FC236}">
                <a16:creationId xmlns:a16="http://schemas.microsoft.com/office/drawing/2014/main" id="{D1FB35F7-D2F3-2DDB-AE92-791AD5E7AC03}"/>
              </a:ext>
            </a:extLst>
          </p:cNvPr>
          <p:cNvSpPr txBox="1"/>
          <p:nvPr/>
        </p:nvSpPr>
        <p:spPr>
          <a:xfrm>
            <a:off x="314479" y="4241899"/>
            <a:ext cx="5271277" cy="2339102"/>
          </a:xfrm>
          <a:prstGeom prst="rect">
            <a:avLst/>
          </a:prstGeom>
          <a:noFill/>
          <a:ln w="44450">
            <a:solidFill>
              <a:schemeClr val="accent1"/>
            </a:solid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Here in the SQL query output found the top 18 pair of products that bought most frequently together. Here Potato 1kg, Peanut 500g bought together in 22 times, then in the second position Potato 1kg and Farm Fresh Milk 1L bought 21  times, then  there are some products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 that bought 18  times together and rest of them are showed in the output table.</a:t>
            </a:r>
          </a:p>
        </p:txBody>
      </p:sp>
    </p:spTree>
    <p:extLst>
      <p:ext uri="{BB962C8B-B14F-4D97-AF65-F5344CB8AC3E}">
        <p14:creationId xmlns:p14="http://schemas.microsoft.com/office/powerpoint/2010/main" val="364400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5197B4-BB38-996C-286C-8E93F68D5A02}"/>
              </a:ext>
            </a:extLst>
          </p:cNvPr>
          <p:cNvPicPr>
            <a:picLocks noChangeAspect="1"/>
          </p:cNvPicPr>
          <p:nvPr/>
        </p:nvPicPr>
        <p:blipFill>
          <a:blip r:embed="rId2"/>
          <a:stretch>
            <a:fillRect/>
          </a:stretch>
        </p:blipFill>
        <p:spPr>
          <a:xfrm>
            <a:off x="280616" y="787006"/>
            <a:ext cx="7148883" cy="3770003"/>
          </a:xfrm>
          <a:prstGeom prst="rect">
            <a:avLst/>
          </a:prstGeom>
        </p:spPr>
      </p:pic>
      <p:pic>
        <p:nvPicPr>
          <p:cNvPr id="5" name="Picture 4">
            <a:extLst>
              <a:ext uri="{FF2B5EF4-FFF2-40B4-BE49-F238E27FC236}">
                <a16:creationId xmlns:a16="http://schemas.microsoft.com/office/drawing/2014/main" id="{AEE7D2E1-BEE0-A10F-F096-3DD005318157}"/>
              </a:ext>
            </a:extLst>
          </p:cNvPr>
          <p:cNvPicPr>
            <a:picLocks noChangeAspect="1"/>
          </p:cNvPicPr>
          <p:nvPr/>
        </p:nvPicPr>
        <p:blipFill>
          <a:blip r:embed="rId3"/>
          <a:stretch>
            <a:fillRect/>
          </a:stretch>
        </p:blipFill>
        <p:spPr>
          <a:xfrm>
            <a:off x="7576904" y="787006"/>
            <a:ext cx="4334480" cy="4070744"/>
          </a:xfrm>
          <a:prstGeom prst="rect">
            <a:avLst/>
          </a:prstGeom>
        </p:spPr>
      </p:pic>
      <p:sp>
        <p:nvSpPr>
          <p:cNvPr id="6" name="TextBox 5">
            <a:extLst>
              <a:ext uri="{FF2B5EF4-FFF2-40B4-BE49-F238E27FC236}">
                <a16:creationId xmlns:a16="http://schemas.microsoft.com/office/drawing/2014/main" id="{F33E925D-43FA-9C03-4FEA-BD20E46392B4}"/>
              </a:ext>
            </a:extLst>
          </p:cNvPr>
          <p:cNvSpPr txBox="1"/>
          <p:nvPr/>
        </p:nvSpPr>
        <p:spPr>
          <a:xfrm>
            <a:off x="487045" y="274803"/>
            <a:ext cx="11217909"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product pairs that consistently drive higher order values</a:t>
            </a:r>
          </a:p>
        </p:txBody>
      </p:sp>
      <p:sp>
        <p:nvSpPr>
          <p:cNvPr id="7" name="TextBox 6">
            <a:extLst>
              <a:ext uri="{FF2B5EF4-FFF2-40B4-BE49-F238E27FC236}">
                <a16:creationId xmlns:a16="http://schemas.microsoft.com/office/drawing/2014/main" id="{27AE67D6-A797-8CE3-CD02-F5F2A1087A84}"/>
              </a:ext>
            </a:extLst>
          </p:cNvPr>
          <p:cNvSpPr txBox="1"/>
          <p:nvPr/>
        </p:nvSpPr>
        <p:spPr>
          <a:xfrm>
            <a:off x="487044" y="4557009"/>
            <a:ext cx="10385743" cy="2092881"/>
          </a:xfrm>
          <a:prstGeom prst="rect">
            <a:avLst/>
          </a:prstGeom>
          <a:noFill/>
          <a:ln w="44450">
            <a:noFill/>
          </a:ln>
        </p:spPr>
        <p:txBody>
          <a:bodyPr wrap="square" rtlCol="0">
            <a:spAutoFit/>
          </a:bodyPr>
          <a:lstStyle/>
          <a:p>
            <a:pPr algn="ctr"/>
            <a:r>
              <a:rPr lang="en-US" u="sng" dirty="0">
                <a:latin typeface="ADLaM Display" panose="02010000000000000000" pitchFamily="2" charset="0"/>
                <a:ea typeface="ADLaM Display" panose="02010000000000000000" pitchFamily="2" charset="0"/>
                <a:cs typeface="ADLaM Display" panose="02010000000000000000" pitchFamily="2" charset="0"/>
              </a:rPr>
              <a:t>Comments:</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The SQL output indicates that certain product pairs ordered together generate higher revenue. The combination of </a:t>
            </a:r>
            <a:r>
              <a:rPr lang="en-US" sz="1600" dirty="0" err="1">
                <a:latin typeface="ADLaM Display" panose="02010000000000000000" pitchFamily="2" charset="0"/>
                <a:ea typeface="ADLaM Display" panose="02010000000000000000" pitchFamily="2" charset="0"/>
                <a:cs typeface="ADLaM Display" panose="02010000000000000000" pitchFamily="2" charset="0"/>
              </a:rPr>
              <a:t>Miniket</a:t>
            </a:r>
            <a:r>
              <a:rPr lang="en-US" sz="1600" dirty="0">
                <a:latin typeface="ADLaM Display" panose="02010000000000000000" pitchFamily="2" charset="0"/>
                <a:ea typeface="ADLaM Display" panose="02010000000000000000" pitchFamily="2" charset="0"/>
                <a:cs typeface="ADLaM Display" panose="02010000000000000000" pitchFamily="2" charset="0"/>
              </a:rPr>
              <a:t> Rice 5kg and Power Bank 1000mAh produces the highest revenue when purchased together. The second-highest revenue comes from T-Shirt (Men) and Bru Coffee 200g, followed by Power Bank 1000mAh and Bru Coffee 200g in third place.</a:t>
            </a:r>
          </a:p>
          <a:p>
            <a:pPr algn="just"/>
            <a:r>
              <a:rPr lang="en-US" sz="1600" dirty="0">
                <a:latin typeface="ADLaM Display" panose="02010000000000000000" pitchFamily="2" charset="0"/>
                <a:ea typeface="ADLaM Display" panose="02010000000000000000" pitchFamily="2" charset="0"/>
                <a:cs typeface="ADLaM Display" panose="02010000000000000000" pitchFamily="2" charset="0"/>
              </a:rPr>
              <a:t>These results suggest strong cross-purchase behavior among these items. Therefore, it is highly recommended to place high-revenue product pairs together through product bundling, recommendations, or strategic shelf placement to maximize overall sales.</a:t>
            </a:r>
          </a:p>
        </p:txBody>
      </p:sp>
    </p:spTree>
    <p:extLst>
      <p:ext uri="{BB962C8B-B14F-4D97-AF65-F5344CB8AC3E}">
        <p14:creationId xmlns:p14="http://schemas.microsoft.com/office/powerpoint/2010/main" val="2832806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11DF1-759C-91C3-806C-B11278B38314}"/>
              </a:ext>
            </a:extLst>
          </p:cNvPr>
          <p:cNvPicPr>
            <a:picLocks noChangeAspect="1"/>
          </p:cNvPicPr>
          <p:nvPr/>
        </p:nvPicPr>
        <p:blipFill>
          <a:blip r:embed="rId2"/>
          <a:stretch>
            <a:fillRect/>
          </a:stretch>
        </p:blipFill>
        <p:spPr>
          <a:xfrm>
            <a:off x="233690" y="274803"/>
            <a:ext cx="5409873" cy="3671750"/>
          </a:xfrm>
          <a:prstGeom prst="rect">
            <a:avLst/>
          </a:prstGeom>
        </p:spPr>
      </p:pic>
      <p:pic>
        <p:nvPicPr>
          <p:cNvPr id="3" name="Picture 2">
            <a:extLst>
              <a:ext uri="{FF2B5EF4-FFF2-40B4-BE49-F238E27FC236}">
                <a16:creationId xmlns:a16="http://schemas.microsoft.com/office/drawing/2014/main" id="{728E57D6-90B6-248E-F59F-6090B7DCC137}"/>
              </a:ext>
            </a:extLst>
          </p:cNvPr>
          <p:cNvPicPr>
            <a:picLocks noChangeAspect="1"/>
          </p:cNvPicPr>
          <p:nvPr/>
        </p:nvPicPr>
        <p:blipFill>
          <a:blip r:embed="rId3"/>
          <a:stretch>
            <a:fillRect/>
          </a:stretch>
        </p:blipFill>
        <p:spPr>
          <a:xfrm>
            <a:off x="5752495" y="698073"/>
            <a:ext cx="6305828" cy="3248480"/>
          </a:xfrm>
          <a:prstGeom prst="rect">
            <a:avLst/>
          </a:prstGeom>
        </p:spPr>
      </p:pic>
      <p:sp>
        <p:nvSpPr>
          <p:cNvPr id="9" name="TextBox 8">
            <a:extLst>
              <a:ext uri="{FF2B5EF4-FFF2-40B4-BE49-F238E27FC236}">
                <a16:creationId xmlns:a16="http://schemas.microsoft.com/office/drawing/2014/main" id="{A1758C59-5DAE-1DCC-30EF-34F406519507}"/>
              </a:ext>
            </a:extLst>
          </p:cNvPr>
          <p:cNvSpPr txBox="1"/>
          <p:nvPr/>
        </p:nvSpPr>
        <p:spPr>
          <a:xfrm>
            <a:off x="487045" y="274803"/>
            <a:ext cx="11471265"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 </a:t>
            </a:r>
            <a:r>
              <a:rPr lang="en-US" sz="1600"/>
              <a:t>	The product </a:t>
            </a:r>
            <a:r>
              <a:rPr lang="en-US" sz="1600" dirty="0"/>
              <a:t>combinations could be recommended as bundles to increase revenue</a:t>
            </a:r>
          </a:p>
        </p:txBody>
      </p:sp>
      <p:sp>
        <p:nvSpPr>
          <p:cNvPr id="11" name="TextBox 10">
            <a:extLst>
              <a:ext uri="{FF2B5EF4-FFF2-40B4-BE49-F238E27FC236}">
                <a16:creationId xmlns:a16="http://schemas.microsoft.com/office/drawing/2014/main" id="{655BB0DE-7723-B4C1-1AF4-A44EE2EFBED4}"/>
              </a:ext>
            </a:extLst>
          </p:cNvPr>
          <p:cNvSpPr txBox="1"/>
          <p:nvPr/>
        </p:nvSpPr>
        <p:spPr>
          <a:xfrm>
            <a:off x="423892" y="3995678"/>
            <a:ext cx="10657205" cy="2800767"/>
          </a:xfrm>
          <a:prstGeom prst="rect">
            <a:avLst/>
          </a:prstGeom>
          <a:noFill/>
          <a:ln>
            <a:solidFill>
              <a:schemeClr val="tx2">
                <a:lumMod val="50000"/>
                <a:lumOff val="50000"/>
              </a:schemeClr>
            </a:solidFill>
          </a:ln>
        </p:spPr>
        <p:txBody>
          <a:bodyPr wrap="square">
            <a:spAutoFit/>
          </a:bodyPr>
          <a:lstStyle/>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The SQL output highlights product pairs that are frequently purchased together and shows their bundle strength, which measures how strongly two products are associated relative to their individual order volumes. Product pairs with higher bundle strength indicate a strong co-purchasing pattern, meaning customers who buy one product are very likely to buy the other as well.</a:t>
            </a:r>
          </a:p>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The results show that several (Potato 1kg – Farm Fresh Milk 1L) combinations have strong bundling relationships, with a minimum of 20 shared orders. These high bundle-strength pairs represent valuable opportunities for product bundling, cross-selling, and recommendation strategies. Placing these products together or promoting them as bundles can help increase order value and improve overall revenue performance.</a:t>
            </a:r>
          </a:p>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Based on this SQL query some other combination that have strong relationships are  presented in the SQL output.</a:t>
            </a:r>
          </a:p>
        </p:txBody>
      </p:sp>
    </p:spTree>
    <p:extLst>
      <p:ext uri="{BB962C8B-B14F-4D97-AF65-F5344CB8AC3E}">
        <p14:creationId xmlns:p14="http://schemas.microsoft.com/office/powerpoint/2010/main" val="241534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A9B7E2-CBC4-EB62-3AF8-FC6AB73F2FA7}"/>
              </a:ext>
            </a:extLst>
          </p:cNvPr>
          <p:cNvPicPr>
            <a:picLocks noChangeAspect="1"/>
          </p:cNvPicPr>
          <p:nvPr/>
        </p:nvPicPr>
        <p:blipFill>
          <a:blip r:embed="rId2"/>
          <a:stretch>
            <a:fillRect/>
          </a:stretch>
        </p:blipFill>
        <p:spPr>
          <a:xfrm>
            <a:off x="657585" y="727516"/>
            <a:ext cx="6443303" cy="3276614"/>
          </a:xfrm>
          <a:prstGeom prst="rect">
            <a:avLst/>
          </a:prstGeom>
        </p:spPr>
      </p:pic>
      <p:sp>
        <p:nvSpPr>
          <p:cNvPr id="4" name="TextBox 3">
            <a:extLst>
              <a:ext uri="{FF2B5EF4-FFF2-40B4-BE49-F238E27FC236}">
                <a16:creationId xmlns:a16="http://schemas.microsoft.com/office/drawing/2014/main" id="{4ED23FE2-C99B-B3BB-46B3-56A3CB207DA3}"/>
              </a:ext>
            </a:extLst>
          </p:cNvPr>
          <p:cNvSpPr txBox="1"/>
          <p:nvPr/>
        </p:nvSpPr>
        <p:spPr>
          <a:xfrm>
            <a:off x="487045" y="274803"/>
            <a:ext cx="11471265" cy="338554"/>
          </a:xfrm>
          <a:prstGeom prst="rect">
            <a:avLst/>
          </a:prstGeom>
          <a:gradFill flip="none" rotWithShape="1">
            <a:gsLst>
              <a:gs pos="0">
                <a:schemeClr val="accent3">
                  <a:lumMod val="67000"/>
                </a:schemeClr>
              </a:gs>
              <a:gs pos="22000">
                <a:schemeClr val="accent3">
                  <a:lumMod val="97000"/>
                  <a:lumOff val="3000"/>
                </a:schemeClr>
              </a:gs>
              <a:gs pos="100000">
                <a:schemeClr val="accent3">
                  <a:lumMod val="60000"/>
                  <a:lumOff val="40000"/>
                </a:schemeClr>
              </a:gs>
            </a:gsLst>
            <a:lin ang="16200000" scaled="1"/>
            <a:tileRect/>
          </a:gradFill>
          <a:ln>
            <a:noFill/>
          </a:ln>
        </p:spPr>
        <p:txBody>
          <a:bodyPr wrap="square" rtlCol="0">
            <a:spAutoFit/>
          </a:bodyPr>
          <a:lstStyle>
            <a:defPPr>
              <a:defRPr lang="en-US"/>
            </a:defPPr>
            <a:lvl1pPr>
              <a:defRPr>
                <a:latin typeface="ADLaM Display" panose="020F0502020204030204" pitchFamily="2" charset="0"/>
                <a:ea typeface="ADLaM Display" panose="020F0502020204030204" pitchFamily="2" charset="0"/>
                <a:cs typeface="ADLaM Display" panose="020F0502020204030204" pitchFamily="2" charset="0"/>
              </a:defRPr>
            </a:lvl1pPr>
          </a:lstStyle>
          <a:p>
            <a:r>
              <a:rPr lang="en-US" sz="1600" dirty="0"/>
              <a:t>The product pairs that consistently drive higher order values</a:t>
            </a:r>
          </a:p>
        </p:txBody>
      </p:sp>
      <p:pic>
        <p:nvPicPr>
          <p:cNvPr id="6" name="Picture 5">
            <a:extLst>
              <a:ext uri="{FF2B5EF4-FFF2-40B4-BE49-F238E27FC236}">
                <a16:creationId xmlns:a16="http://schemas.microsoft.com/office/drawing/2014/main" id="{BB72C99B-DC23-E87C-52A0-4F849627F825}"/>
              </a:ext>
            </a:extLst>
          </p:cNvPr>
          <p:cNvPicPr>
            <a:picLocks noChangeAspect="1"/>
          </p:cNvPicPr>
          <p:nvPr/>
        </p:nvPicPr>
        <p:blipFill>
          <a:blip r:embed="rId3"/>
          <a:stretch>
            <a:fillRect/>
          </a:stretch>
        </p:blipFill>
        <p:spPr>
          <a:xfrm>
            <a:off x="7425929" y="727516"/>
            <a:ext cx="4108486" cy="3515871"/>
          </a:xfrm>
          <a:prstGeom prst="rect">
            <a:avLst/>
          </a:prstGeom>
        </p:spPr>
      </p:pic>
      <p:sp>
        <p:nvSpPr>
          <p:cNvPr id="7" name="TextBox 6">
            <a:extLst>
              <a:ext uri="{FF2B5EF4-FFF2-40B4-BE49-F238E27FC236}">
                <a16:creationId xmlns:a16="http://schemas.microsoft.com/office/drawing/2014/main" id="{3EB28CA0-1975-F2DC-28E5-3F31188DF2FF}"/>
              </a:ext>
            </a:extLst>
          </p:cNvPr>
          <p:cNvSpPr txBox="1"/>
          <p:nvPr/>
        </p:nvSpPr>
        <p:spPr>
          <a:xfrm>
            <a:off x="285751" y="4243388"/>
            <a:ext cx="11248666" cy="2554545"/>
          </a:xfrm>
          <a:prstGeom prst="rect">
            <a:avLst/>
          </a:prstGeom>
          <a:noFill/>
          <a:ln>
            <a:solidFill>
              <a:schemeClr val="tx2">
                <a:lumMod val="50000"/>
                <a:lumOff val="50000"/>
              </a:schemeClr>
            </a:solidFill>
          </a:ln>
        </p:spPr>
        <p:txBody>
          <a:bodyPr wrap="square">
            <a:spAutoFit/>
          </a:bodyPr>
          <a:lstStyle/>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This analysis goes beyond a single top-performing pair and examines multiple product combinations that customers frequently purchase together. The results reveal a wide range of (Product – Product) pairs that consistently appear in the same orders and contribute meaningful revenue. </a:t>
            </a:r>
          </a:p>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While some pairs generate exceptionally high revenue, several other combinations show strong purchase frequency with moderate revenue contribution. These patterns suggest different types of cross-selling opportunities:• High-revenue pairs are suitable for premium bundles and featured promotions.• High-frequency but moderate-revenue pairs can be leveraged for recommendation engines and add-on suggestions. </a:t>
            </a:r>
          </a:p>
          <a:p>
            <a:pPr algn="just">
              <a:buNone/>
            </a:pPr>
            <a:r>
              <a:rPr lang="en-US" sz="1600" dirty="0">
                <a:latin typeface="ADLaM Display" panose="02010000000000000000" pitchFamily="2" charset="0"/>
                <a:ea typeface="ADLaM Display" panose="02010000000000000000" pitchFamily="2" charset="0"/>
                <a:cs typeface="ADLaM Display" panose="02010000000000000000" pitchFamily="2" charset="0"/>
              </a:rPr>
              <a:t>Overall, promoting multiple complementary product pairs rather than focusing on a single combination can help Urban Cart reach diverse customer needs, increase average order value, and improve cross-selling performance across categories.</a:t>
            </a:r>
          </a:p>
        </p:txBody>
      </p:sp>
    </p:spTree>
    <p:extLst>
      <p:ext uri="{BB962C8B-B14F-4D97-AF65-F5344CB8AC3E}">
        <p14:creationId xmlns:p14="http://schemas.microsoft.com/office/powerpoint/2010/main" val="333609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1700</TotalTime>
  <Words>2121</Words>
  <Application>Microsoft Office PowerPoint</Application>
  <PresentationFormat>Widescreen</PresentationFormat>
  <Paragraphs>127</Paragraphs>
  <Slides>27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ADLaM Display</vt:lpstr>
      <vt:lpstr>Aptos</vt:lpstr>
      <vt:lpstr>Arial</vt:lpstr>
      <vt:lpstr>Modern Love</vt:lpstr>
      <vt:lpstr>The Hand</vt:lpstr>
      <vt:lpstr>Wingdings</vt:lpstr>
      <vt:lpstr>SketchyVTI</vt:lpstr>
      <vt:lpstr>UrbarnCart Sales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k1189</dc:creator>
  <cp:lastModifiedBy>k1189</cp:lastModifiedBy>
  <cp:revision>165</cp:revision>
  <dcterms:created xsi:type="dcterms:W3CDTF">2026-01-18T17:10:58Z</dcterms:created>
  <dcterms:modified xsi:type="dcterms:W3CDTF">2026-01-24T05:52:59Z</dcterms:modified>
</cp:coreProperties>
</file>